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4507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 this is our mini-project on restaurant sales analytics and food demand prediction. In one line, we take historical restaurant data and turn it into demand foresight that managers can act on, delivered through an R Shiny dashboard. Everything you'll see is built primarily in R, and our GitHub activity and repository structure at the bottom are our evidence of the work behind it. Let's start with why this problem is worth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restaurant fights the same three battles: demand that swings unpredictably, kitchens that over- or under-prepare, and inventory ordered on gut feel. What ties them together is on the right — the data that could solve all three already exists in their sales records, it's simply never analyzed. That gap is our entire motivation: use that historical data to surface patterns and predict demand, so these decisions stop being guesswork. Next, here's exactly what we set out to build.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aren't a flat checklist — they follow a deliberate arc, which is why we've tagged them analyze, predict, and decide. The three teal objectives build understanding: sales, order behavior, and exploratory analysis all characterize what the historical data actually shows. The two amber objectives turn that into foresight — predicting demand and comparing machine-learning models to justify the one we ship. Everything converges on the sixth, the R Shiny dashboard, which is where a decision-maker actually uses all of it — and that's the system we'll walk through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project — and deliberately not a straight pipeline, but an ecosystem. On the left, raw restaurant data feeds a connected analytics core; at the center, sales analytics, demand prediction, and business insights all orbit one hub and draw on the same history rather than working in isolation. That combined output informs the R Shiny dashboard on the right, which is the decision-support layer — note that it presents charts, predictions, and recommendations to a person; it does not run the restaurant automatically. The line at the bottom is the whole thesis in one equation: data plus analytics and machine learning equals decision support. Finally, let's look at what this produces.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described lands in five concrete deliverables. The first four build the analytical foundation: sales analytics, order analysis, demand prediction, and a justified comparison of machine-learning models. The fifth — the R Shiny dashboard — is where it all comes together, which is why it carries the most weight on the slide: it's the single interface a manager actually uses, no R code or spreadsheets required. So in one sentence: historical restaurant data, turned through analytics and machine learning, into a decision-support tool a real operator could rely on. Thank you —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deck/icons/hero_grad.png"/>
          <p:cNvPicPr>
            <a:picLocks noChangeAspect="1"/>
          </p:cNvPicPr>
          <p:nvPr/>
        </p:nvPicPr>
        <p:blipFill>
          <a:blip r:embed="rId3"/>
          <a:stretch>
            <a:fillRect/>
          </a:stretch>
        </p:blipFill>
        <p:spPr>
          <a:xfrm>
            <a:off x="0" y="0"/>
            <a:ext cx="12191695" cy="4160520"/>
          </a:xfrm>
          <a:prstGeom prst="rect">
            <a:avLst/>
          </a:prstGeom>
        </p:spPr>
      </p:pic>
      <p:sp>
        <p:nvSpPr>
          <p:cNvPr id="3" name="Shape 0"/>
          <p:cNvSpPr/>
          <p:nvPr/>
        </p:nvSpPr>
        <p:spPr>
          <a:xfrm>
            <a:off x="8686800" y="3055559"/>
            <a:ext cx="3063240" cy="0"/>
          </a:xfrm>
          <a:prstGeom prst="line">
            <a:avLst/>
          </a:prstGeom>
          <a:noFill/>
          <a:ln w="6350">
            <a:solidFill>
              <a:srgbClr val="3A5480"/>
            </a:solidFill>
            <a:prstDash val="solid"/>
          </a:ln>
        </p:spPr>
      </p:sp>
      <p:sp>
        <p:nvSpPr>
          <p:cNvPr id="4" name="Shape 1"/>
          <p:cNvSpPr/>
          <p:nvPr/>
        </p:nvSpPr>
        <p:spPr>
          <a:xfrm>
            <a:off x="8686800" y="2608966"/>
            <a:ext cx="3063240" cy="0"/>
          </a:xfrm>
          <a:prstGeom prst="line">
            <a:avLst/>
          </a:prstGeom>
          <a:noFill/>
          <a:ln w="6350">
            <a:solidFill>
              <a:srgbClr val="3A5480"/>
            </a:solidFill>
            <a:prstDash val="solid"/>
          </a:ln>
        </p:spPr>
      </p:sp>
      <p:sp>
        <p:nvSpPr>
          <p:cNvPr id="5" name="Shape 2"/>
          <p:cNvSpPr/>
          <p:nvPr/>
        </p:nvSpPr>
        <p:spPr>
          <a:xfrm>
            <a:off x="8686800" y="2148840"/>
            <a:ext cx="3063240" cy="0"/>
          </a:xfrm>
          <a:prstGeom prst="line">
            <a:avLst/>
          </a:prstGeom>
          <a:noFill/>
          <a:ln w="6350">
            <a:solidFill>
              <a:srgbClr val="3A5480"/>
            </a:solidFill>
            <a:prstDash val="solid"/>
          </a:ln>
        </p:spPr>
      </p:sp>
      <p:sp>
        <p:nvSpPr>
          <p:cNvPr id="6" name="Shape 3"/>
          <p:cNvSpPr/>
          <p:nvPr/>
        </p:nvSpPr>
        <p:spPr>
          <a:xfrm>
            <a:off x="8686800" y="3118104"/>
            <a:ext cx="164592" cy="384048"/>
          </a:xfrm>
          <a:prstGeom prst="rect">
            <a:avLst/>
          </a:prstGeom>
          <a:solidFill>
            <a:srgbClr val="9EC6D8">
              <a:alpha val="18000"/>
            </a:srgbClr>
          </a:solidFill>
          <a:ln/>
        </p:spPr>
      </p:sp>
      <p:sp>
        <p:nvSpPr>
          <p:cNvPr id="7" name="Shape 4"/>
          <p:cNvSpPr/>
          <p:nvPr/>
        </p:nvSpPr>
        <p:spPr>
          <a:xfrm>
            <a:off x="8942832" y="2953512"/>
            <a:ext cx="164592" cy="548640"/>
          </a:xfrm>
          <a:prstGeom prst="rect">
            <a:avLst/>
          </a:prstGeom>
          <a:solidFill>
            <a:srgbClr val="9EC6D8">
              <a:alpha val="18000"/>
            </a:srgbClr>
          </a:solidFill>
          <a:ln/>
        </p:spPr>
      </p:sp>
      <p:sp>
        <p:nvSpPr>
          <p:cNvPr id="8" name="Shape 5"/>
          <p:cNvSpPr/>
          <p:nvPr/>
        </p:nvSpPr>
        <p:spPr>
          <a:xfrm>
            <a:off x="9198864" y="3044952"/>
            <a:ext cx="164592" cy="457200"/>
          </a:xfrm>
          <a:prstGeom prst="rect">
            <a:avLst/>
          </a:prstGeom>
          <a:solidFill>
            <a:srgbClr val="9EC6D8">
              <a:alpha val="18000"/>
            </a:srgbClr>
          </a:solidFill>
          <a:ln/>
        </p:spPr>
      </p:sp>
      <p:sp>
        <p:nvSpPr>
          <p:cNvPr id="9" name="Shape 6"/>
          <p:cNvSpPr/>
          <p:nvPr/>
        </p:nvSpPr>
        <p:spPr>
          <a:xfrm>
            <a:off x="9454896" y="2807208"/>
            <a:ext cx="164592" cy="694944"/>
          </a:xfrm>
          <a:prstGeom prst="rect">
            <a:avLst/>
          </a:prstGeom>
          <a:solidFill>
            <a:srgbClr val="9EC6D8">
              <a:alpha val="18000"/>
            </a:srgbClr>
          </a:solidFill>
          <a:ln/>
        </p:spPr>
      </p:sp>
      <p:sp>
        <p:nvSpPr>
          <p:cNvPr id="10" name="Shape 7"/>
          <p:cNvSpPr/>
          <p:nvPr/>
        </p:nvSpPr>
        <p:spPr>
          <a:xfrm>
            <a:off x="9710928" y="2898648"/>
            <a:ext cx="164592" cy="603504"/>
          </a:xfrm>
          <a:prstGeom prst="rect">
            <a:avLst/>
          </a:prstGeom>
          <a:solidFill>
            <a:srgbClr val="9EC6D8">
              <a:alpha val="18000"/>
            </a:srgbClr>
          </a:solidFill>
          <a:ln/>
        </p:spPr>
      </p:sp>
      <p:sp>
        <p:nvSpPr>
          <p:cNvPr id="11" name="Shape 8"/>
          <p:cNvSpPr/>
          <p:nvPr/>
        </p:nvSpPr>
        <p:spPr>
          <a:xfrm>
            <a:off x="9966960" y="2642616"/>
            <a:ext cx="164592" cy="859536"/>
          </a:xfrm>
          <a:prstGeom prst="rect">
            <a:avLst/>
          </a:prstGeom>
          <a:solidFill>
            <a:srgbClr val="9EC6D8">
              <a:alpha val="18000"/>
            </a:srgbClr>
          </a:solidFill>
          <a:ln/>
        </p:spPr>
      </p:sp>
      <p:sp>
        <p:nvSpPr>
          <p:cNvPr id="12" name="Shape 9"/>
          <p:cNvSpPr/>
          <p:nvPr/>
        </p:nvSpPr>
        <p:spPr>
          <a:xfrm>
            <a:off x="10222992" y="2752344"/>
            <a:ext cx="164592" cy="749808"/>
          </a:xfrm>
          <a:prstGeom prst="rect">
            <a:avLst/>
          </a:prstGeom>
          <a:solidFill>
            <a:srgbClr val="9EC6D8">
              <a:alpha val="18000"/>
            </a:srgbClr>
          </a:solidFill>
          <a:ln/>
        </p:spPr>
      </p:sp>
      <p:sp>
        <p:nvSpPr>
          <p:cNvPr id="13" name="Shape 10"/>
          <p:cNvSpPr/>
          <p:nvPr/>
        </p:nvSpPr>
        <p:spPr>
          <a:xfrm>
            <a:off x="10479024" y="2496312"/>
            <a:ext cx="164592" cy="1005840"/>
          </a:xfrm>
          <a:prstGeom prst="rect">
            <a:avLst/>
          </a:prstGeom>
          <a:solidFill>
            <a:srgbClr val="9EC6D8">
              <a:alpha val="18000"/>
            </a:srgbClr>
          </a:solidFill>
          <a:ln/>
        </p:spPr>
      </p:sp>
      <p:sp>
        <p:nvSpPr>
          <p:cNvPr id="14" name="Shape 11"/>
          <p:cNvSpPr/>
          <p:nvPr/>
        </p:nvSpPr>
        <p:spPr>
          <a:xfrm>
            <a:off x="10735056" y="2606040"/>
            <a:ext cx="164592" cy="896112"/>
          </a:xfrm>
          <a:prstGeom prst="rect">
            <a:avLst/>
          </a:prstGeom>
          <a:solidFill>
            <a:srgbClr val="9EC6D8">
              <a:alpha val="18000"/>
            </a:srgbClr>
          </a:solidFill>
          <a:ln/>
        </p:spPr>
      </p:sp>
      <p:sp>
        <p:nvSpPr>
          <p:cNvPr id="15" name="Shape 12"/>
          <p:cNvSpPr/>
          <p:nvPr/>
        </p:nvSpPr>
        <p:spPr>
          <a:xfrm>
            <a:off x="10991088" y="2295144"/>
            <a:ext cx="164592" cy="1207008"/>
          </a:xfrm>
          <a:prstGeom prst="rect">
            <a:avLst/>
          </a:prstGeom>
          <a:solidFill>
            <a:srgbClr val="C68A38">
              <a:alpha val="32000"/>
            </a:srgbClr>
          </a:solidFill>
          <a:ln/>
        </p:spPr>
      </p:sp>
      <p:sp>
        <p:nvSpPr>
          <p:cNvPr id="16" name="Shape 13"/>
          <p:cNvSpPr/>
          <p:nvPr/>
        </p:nvSpPr>
        <p:spPr>
          <a:xfrm>
            <a:off x="11247120" y="2423160"/>
            <a:ext cx="164592" cy="1078992"/>
          </a:xfrm>
          <a:prstGeom prst="rect">
            <a:avLst/>
          </a:prstGeom>
          <a:solidFill>
            <a:srgbClr val="C68A38">
              <a:alpha val="32000"/>
            </a:srgbClr>
          </a:solidFill>
          <a:ln/>
        </p:spPr>
      </p:sp>
      <p:sp>
        <p:nvSpPr>
          <p:cNvPr id="17" name="Shape 14"/>
          <p:cNvSpPr/>
          <p:nvPr/>
        </p:nvSpPr>
        <p:spPr>
          <a:xfrm>
            <a:off x="11503152" y="2148840"/>
            <a:ext cx="164592" cy="1353312"/>
          </a:xfrm>
          <a:prstGeom prst="rect">
            <a:avLst/>
          </a:prstGeom>
          <a:solidFill>
            <a:srgbClr val="C68A38">
              <a:alpha val="32000"/>
            </a:srgbClr>
          </a:solidFill>
          <a:ln/>
        </p:spPr>
      </p:sp>
      <p:sp>
        <p:nvSpPr>
          <p:cNvPr id="18" name="Shape 15"/>
          <p:cNvSpPr/>
          <p:nvPr/>
        </p:nvSpPr>
        <p:spPr>
          <a:xfrm flipV="1">
            <a:off x="8686800" y="3069092"/>
            <a:ext cx="612648" cy="135331"/>
          </a:xfrm>
          <a:prstGeom prst="line">
            <a:avLst/>
          </a:prstGeom>
          <a:noFill/>
          <a:ln w="28575">
            <a:solidFill>
              <a:srgbClr val="6FC7DB"/>
            </a:solidFill>
            <a:prstDash val="solid"/>
          </a:ln>
        </p:spPr>
      </p:sp>
      <p:sp>
        <p:nvSpPr>
          <p:cNvPr id="19" name="Shape 16"/>
          <p:cNvSpPr/>
          <p:nvPr/>
        </p:nvSpPr>
        <p:spPr>
          <a:xfrm>
            <a:off x="9299448" y="3069092"/>
            <a:ext cx="551383" cy="54132"/>
          </a:xfrm>
          <a:prstGeom prst="line">
            <a:avLst/>
          </a:prstGeom>
          <a:noFill/>
          <a:ln w="28575">
            <a:solidFill>
              <a:srgbClr val="6FC7DB"/>
            </a:solidFill>
            <a:prstDash val="solid"/>
          </a:ln>
        </p:spPr>
      </p:sp>
      <p:sp>
        <p:nvSpPr>
          <p:cNvPr id="20" name="Shape 17"/>
          <p:cNvSpPr/>
          <p:nvPr/>
        </p:nvSpPr>
        <p:spPr>
          <a:xfrm flipV="1">
            <a:off x="9850831" y="2879628"/>
            <a:ext cx="551383" cy="243596"/>
          </a:xfrm>
          <a:prstGeom prst="line">
            <a:avLst/>
          </a:prstGeom>
          <a:noFill/>
          <a:ln w="28575">
            <a:solidFill>
              <a:srgbClr val="6FC7DB"/>
            </a:solidFill>
            <a:prstDash val="solid"/>
          </a:ln>
        </p:spPr>
      </p:sp>
      <p:sp>
        <p:nvSpPr>
          <p:cNvPr id="21" name="Shape 18"/>
          <p:cNvSpPr/>
          <p:nvPr/>
        </p:nvSpPr>
        <p:spPr>
          <a:xfrm flipV="1">
            <a:off x="10402214" y="2663099"/>
            <a:ext cx="551383" cy="216530"/>
          </a:xfrm>
          <a:prstGeom prst="line">
            <a:avLst/>
          </a:prstGeom>
          <a:noFill/>
          <a:ln w="28575">
            <a:solidFill>
              <a:srgbClr val="6FC7DB"/>
            </a:solidFill>
            <a:prstDash val="solid"/>
          </a:ln>
        </p:spPr>
      </p:sp>
      <p:sp>
        <p:nvSpPr>
          <p:cNvPr id="22" name="Shape 19"/>
          <p:cNvSpPr/>
          <p:nvPr/>
        </p:nvSpPr>
        <p:spPr>
          <a:xfrm flipV="1">
            <a:off x="10953598" y="2392436"/>
            <a:ext cx="796442" cy="270662"/>
          </a:xfrm>
          <a:prstGeom prst="line">
            <a:avLst/>
          </a:prstGeom>
          <a:noFill/>
          <a:ln w="28575">
            <a:solidFill>
              <a:srgbClr val="6FC7DB"/>
            </a:solidFill>
            <a:prstDash val="solid"/>
          </a:ln>
        </p:spPr>
      </p:sp>
      <p:sp>
        <p:nvSpPr>
          <p:cNvPr id="23" name="Text 20"/>
          <p:cNvSpPr/>
          <p:nvPr/>
        </p:nvSpPr>
        <p:spPr>
          <a:xfrm>
            <a:off x="594360" y="548640"/>
            <a:ext cx="9144000" cy="274320"/>
          </a:xfrm>
          <a:prstGeom prst="rect">
            <a:avLst/>
          </a:prstGeom>
          <a:noFill/>
          <a:ln/>
        </p:spPr>
        <p:txBody>
          <a:bodyPr wrap="square" lIns="0" tIns="0" rIns="0" bIns="0" rtlCol="0" anchor="t"/>
          <a:lstStyle/>
          <a:p>
            <a:pPr marL="0" indent="0" algn="l">
              <a:buNone/>
            </a:pPr>
            <a:r>
              <a:rPr lang="en-US" sz="1150" b="1" kern="0" spc="250" dirty="0">
                <a:solidFill>
                  <a:srgbClr val="9EC6D8"/>
                </a:solidFill>
                <a:latin typeface="Calibri" pitchFamily="34" charset="0"/>
                <a:ea typeface="Calibri" pitchFamily="34" charset="-122"/>
                <a:cs typeface="Calibri" pitchFamily="34" charset="-120"/>
              </a:rPr>
              <a:t>COLLEGE MINI-PROJECT   ·   DATA SCIENCE</a:t>
            </a:r>
            <a:endParaRPr lang="en-US" sz="1150" dirty="0"/>
          </a:p>
        </p:txBody>
      </p:sp>
      <p:sp>
        <p:nvSpPr>
          <p:cNvPr id="24" name="Text 21"/>
          <p:cNvSpPr/>
          <p:nvPr/>
        </p:nvSpPr>
        <p:spPr>
          <a:xfrm>
            <a:off x="594360" y="1024128"/>
            <a:ext cx="10424160" cy="1691640"/>
          </a:xfrm>
          <a:prstGeom prst="rect">
            <a:avLst/>
          </a:prstGeom>
          <a:noFill/>
          <a:ln/>
        </p:spPr>
        <p:txBody>
          <a:bodyPr wrap="square" lIns="0" tIns="0" rIns="0" bIns="0" rtlCol="0" anchor="t"/>
          <a:lstStyle/>
          <a:p>
            <a:pPr marL="0" indent="0" algn="l">
              <a:lnSpc>
                <a:spcPts val="3900"/>
              </a:lnSpc>
              <a:buNone/>
            </a:pPr>
            <a:r>
              <a:rPr lang="en-US" sz="3300" b="1" dirty="0">
                <a:solidFill>
                  <a:srgbClr val="FFFFFF"/>
                </a:solidFill>
                <a:latin typeface="Cambria" pitchFamily="34" charset="0"/>
                <a:ea typeface="Cambria" pitchFamily="34" charset="-122"/>
                <a:cs typeface="Cambria" pitchFamily="34" charset="-120"/>
              </a:rPr>
              <a:t>Restaurant Sales Analytics and</a:t>
            </a:r>
            <a:endParaRPr lang="en-US" sz="3300" dirty="0"/>
          </a:p>
          <a:p>
            <a:pPr marL="0" indent="0" algn="l">
              <a:lnSpc>
                <a:spcPts val="3900"/>
              </a:lnSpc>
              <a:buNone/>
            </a:pPr>
            <a:r>
              <a:rPr lang="en-US" sz="3300" b="1" dirty="0">
                <a:solidFill>
                  <a:srgbClr val="FFFFFF"/>
                </a:solidFill>
                <a:latin typeface="Cambria" pitchFamily="34" charset="0"/>
                <a:ea typeface="Cambria" pitchFamily="34" charset="-122"/>
                <a:cs typeface="Cambria" pitchFamily="34" charset="-120"/>
              </a:rPr>
              <a:t>Food Demand Prediction Using Machine Learning</a:t>
            </a:r>
            <a:endParaRPr lang="en-US" sz="3300" dirty="0"/>
          </a:p>
        </p:txBody>
      </p:sp>
      <p:sp>
        <p:nvSpPr>
          <p:cNvPr id="25" name="Text 22"/>
          <p:cNvSpPr/>
          <p:nvPr/>
        </p:nvSpPr>
        <p:spPr>
          <a:xfrm>
            <a:off x="594360" y="2788920"/>
            <a:ext cx="8138160" cy="457200"/>
          </a:xfrm>
          <a:prstGeom prst="rect">
            <a:avLst/>
          </a:prstGeom>
          <a:noFill/>
          <a:ln/>
        </p:spPr>
        <p:txBody>
          <a:bodyPr wrap="square" lIns="0" tIns="0" rIns="0" bIns="0" rtlCol="0" anchor="t"/>
          <a:lstStyle/>
          <a:p>
            <a:pPr marL="0" indent="0" algn="l">
              <a:lnSpc>
                <a:spcPts val="2000"/>
              </a:lnSpc>
              <a:buNone/>
            </a:pPr>
            <a:r>
              <a:rPr lang="en-US" sz="1500" dirty="0">
                <a:solidFill>
                  <a:srgbClr val="CBD6E5"/>
                </a:solidFill>
                <a:latin typeface="Calibri" pitchFamily="34" charset="0"/>
                <a:ea typeface="Calibri" pitchFamily="34" charset="-122"/>
                <a:cs typeface="Calibri" pitchFamily="34" charset="-120"/>
              </a:rPr>
              <a:t>Turning historical restaurant data into demand foresight — built in R and R Shiny.</a:t>
            </a:r>
            <a:endParaRPr lang="en-US" sz="1500" dirty="0"/>
          </a:p>
        </p:txBody>
      </p:sp>
      <p:sp>
        <p:nvSpPr>
          <p:cNvPr id="26" name="Text 23"/>
          <p:cNvSpPr/>
          <p:nvPr/>
        </p:nvSpPr>
        <p:spPr>
          <a:xfrm>
            <a:off x="609060" y="3319272"/>
            <a:ext cx="5120640" cy="237744"/>
          </a:xfrm>
          <a:prstGeom prst="rect">
            <a:avLst/>
          </a:prstGeom>
          <a:noFill/>
          <a:ln/>
        </p:spPr>
        <p:txBody>
          <a:bodyPr wrap="square" lIns="0" tIns="0" rIns="0" bIns="0" rtlCol="0" anchor="t"/>
          <a:lstStyle/>
          <a:p>
            <a:pPr marL="0" indent="0" algn="l">
              <a:buNone/>
            </a:pPr>
            <a:r>
              <a:rPr lang="en-US" sz="950" b="1" kern="0" spc="150" dirty="0">
                <a:solidFill>
                  <a:srgbClr val="9EC6D8"/>
                </a:solidFill>
                <a:latin typeface="Calibri" pitchFamily="34" charset="0"/>
                <a:ea typeface="Calibri" pitchFamily="34" charset="-122"/>
                <a:cs typeface="Calibri" pitchFamily="34" charset="-120"/>
              </a:rPr>
              <a:t>TEAM</a:t>
            </a:r>
            <a:endParaRPr lang="en-US" sz="950" dirty="0"/>
          </a:p>
        </p:txBody>
      </p:sp>
      <p:sp>
        <p:nvSpPr>
          <p:cNvPr id="27" name="Text 24"/>
          <p:cNvSpPr/>
          <p:nvPr/>
        </p:nvSpPr>
        <p:spPr>
          <a:xfrm>
            <a:off x="594360" y="3566160"/>
            <a:ext cx="5120640" cy="310896"/>
          </a:xfrm>
          <a:prstGeom prst="rect">
            <a:avLst/>
          </a:prstGeom>
          <a:noFill/>
          <a:ln/>
        </p:spPr>
        <p:txBody>
          <a:bodyPr wrap="square" lIns="0" tIns="0" rIns="0" bIns="0" rtlCol="0" anchor="t"/>
          <a:lstStyle/>
          <a:p>
            <a:pPr>
              <a:lnSpc>
                <a:spcPts val="2160"/>
              </a:lnSpc>
            </a:pPr>
            <a:r>
              <a:rPr lang="en-IN" sz="1200" dirty="0" err="1">
                <a:solidFill>
                  <a:srgbClr val="CBD5E1"/>
                </a:solidFill>
                <a:latin typeface="Lato"/>
              </a:rPr>
              <a:t>Monika.M</a:t>
            </a:r>
            <a:r>
              <a:rPr lang="en-IN" sz="1200" dirty="0">
                <a:solidFill>
                  <a:srgbClr val="CBD5E1"/>
                </a:solidFill>
                <a:latin typeface="Lato"/>
              </a:rPr>
              <a:t> (24BDS1197)	    </a:t>
            </a:r>
          </a:p>
          <a:p>
            <a:pPr>
              <a:lnSpc>
                <a:spcPts val="2160"/>
              </a:lnSpc>
            </a:pPr>
            <a:r>
              <a:rPr lang="en-IN" sz="1200" dirty="0" err="1">
                <a:solidFill>
                  <a:srgbClr val="CBD5E1"/>
                </a:solidFill>
                <a:latin typeface="Lato"/>
              </a:rPr>
              <a:t>N.B.Apsara</a:t>
            </a:r>
            <a:r>
              <a:rPr lang="en-IN" sz="1200" dirty="0">
                <a:solidFill>
                  <a:srgbClr val="CBD5E1"/>
                </a:solidFill>
                <a:latin typeface="Lato"/>
              </a:rPr>
              <a:t> (24BDS1009)</a:t>
            </a:r>
          </a:p>
        </p:txBody>
      </p:sp>
      <p:sp>
        <p:nvSpPr>
          <p:cNvPr id="28" name="Text 25"/>
          <p:cNvSpPr/>
          <p:nvPr/>
        </p:nvSpPr>
        <p:spPr>
          <a:xfrm>
            <a:off x="5715000" y="3328416"/>
            <a:ext cx="2651760" cy="237744"/>
          </a:xfrm>
          <a:prstGeom prst="rect">
            <a:avLst/>
          </a:prstGeom>
          <a:noFill/>
          <a:ln/>
        </p:spPr>
        <p:txBody>
          <a:bodyPr wrap="square" lIns="0" tIns="0" rIns="0" bIns="0" rtlCol="0" anchor="t"/>
          <a:lstStyle/>
          <a:p>
            <a:pPr marL="0" indent="0" algn="l">
              <a:buNone/>
            </a:pPr>
            <a:r>
              <a:rPr lang="en-US" sz="950" b="1" kern="0" spc="150" dirty="0">
                <a:solidFill>
                  <a:srgbClr val="9EC6D8"/>
                </a:solidFill>
                <a:latin typeface="Calibri" pitchFamily="34" charset="0"/>
                <a:ea typeface="Calibri" pitchFamily="34" charset="-122"/>
                <a:cs typeface="Calibri" pitchFamily="34" charset="-120"/>
              </a:rPr>
              <a:t>GUIDE</a:t>
            </a:r>
            <a:endParaRPr lang="en-US" sz="950" dirty="0"/>
          </a:p>
        </p:txBody>
      </p:sp>
      <p:sp>
        <p:nvSpPr>
          <p:cNvPr id="29" name="Text 26"/>
          <p:cNvSpPr/>
          <p:nvPr/>
        </p:nvSpPr>
        <p:spPr>
          <a:xfrm>
            <a:off x="5715000" y="3584448"/>
            <a:ext cx="2651760" cy="310896"/>
          </a:xfrm>
          <a:prstGeom prst="rect">
            <a:avLst/>
          </a:prstGeom>
          <a:noFill/>
          <a:ln/>
        </p:spPr>
        <p:txBody>
          <a:bodyPr wrap="square" lIns="0" tIns="0" rIns="0" bIns="0" rtlCol="0" anchor="t"/>
          <a:lstStyle/>
          <a:p>
            <a:r>
              <a:rPr lang="en-US" sz="1200" dirty="0">
                <a:solidFill>
                  <a:srgbClr val="CBD5E1"/>
                </a:solidFill>
                <a:latin typeface="Lato"/>
              </a:rPr>
              <a:t>Amrit Pal</a:t>
            </a:r>
            <a:endParaRPr lang="en-US" sz="1300" dirty="0"/>
          </a:p>
        </p:txBody>
      </p:sp>
      <p:sp>
        <p:nvSpPr>
          <p:cNvPr id="32" name="Text 29"/>
          <p:cNvSpPr/>
          <p:nvPr/>
        </p:nvSpPr>
        <p:spPr>
          <a:xfrm>
            <a:off x="594360" y="4407408"/>
            <a:ext cx="5486400" cy="256032"/>
          </a:xfrm>
          <a:prstGeom prst="rect">
            <a:avLst/>
          </a:prstGeom>
          <a:noFill/>
          <a:ln/>
        </p:spPr>
        <p:txBody>
          <a:bodyPr wrap="square" lIns="0" tIns="0" rIns="0" bIns="0" rtlCol="0" anchor="t"/>
          <a:lstStyle/>
          <a:p>
            <a:pPr marL="0" indent="0" algn="l">
              <a:buNone/>
            </a:pPr>
            <a:r>
              <a:rPr lang="en-US" sz="1000" b="1" kern="0" spc="200" dirty="0">
                <a:solidFill>
                  <a:srgbClr val="5F6A78"/>
                </a:solidFill>
                <a:latin typeface="Calibri" pitchFamily="34" charset="0"/>
                <a:ea typeface="Calibri" pitchFamily="34" charset="-122"/>
                <a:cs typeface="Calibri" pitchFamily="34" charset="-120"/>
              </a:rPr>
              <a:t>PROJECT EVIDENCE</a:t>
            </a:r>
            <a:endParaRPr lang="en-US" sz="1000" dirty="0"/>
          </a:p>
        </p:txBody>
      </p:sp>
      <p:sp>
        <p:nvSpPr>
          <p:cNvPr id="33" name="Text 30"/>
          <p:cNvSpPr/>
          <p:nvPr/>
        </p:nvSpPr>
        <p:spPr>
          <a:xfrm>
            <a:off x="594360" y="4407408"/>
            <a:ext cx="11002975" cy="256032"/>
          </a:xfrm>
          <a:prstGeom prst="rect">
            <a:avLst/>
          </a:prstGeom>
          <a:noFill/>
          <a:ln/>
        </p:spPr>
        <p:txBody>
          <a:bodyPr wrap="square" lIns="0" tIns="0" rIns="0" bIns="0" rtlCol="0" anchor="t"/>
          <a:lstStyle/>
          <a:p>
            <a:pPr marL="0" indent="0" algn="r">
              <a:buNone/>
            </a:pPr>
            <a:r>
              <a:rPr lang="en-US" sz="900" b="1" kern="0" spc="80" dirty="0">
                <a:solidFill>
                  <a:srgbClr val="93A0AD"/>
                </a:solidFill>
                <a:latin typeface="Calibri" pitchFamily="34" charset="0"/>
                <a:ea typeface="Calibri" pitchFamily="34" charset="-122"/>
                <a:cs typeface="Calibri" pitchFamily="34" charset="-120"/>
              </a:rPr>
              <a:t>BUILT WITH  R · R SHINY · TIDYVERSE · GGPLOT2 · CARET / TIDYMODELS</a:t>
            </a:r>
            <a:endParaRPr lang="en-US" sz="900" dirty="0"/>
          </a:p>
        </p:txBody>
      </p:sp>
      <p:sp>
        <p:nvSpPr>
          <p:cNvPr id="34" name="Shape 31"/>
          <p:cNvSpPr/>
          <p:nvPr/>
        </p:nvSpPr>
        <p:spPr>
          <a:xfrm>
            <a:off x="594360" y="4754880"/>
            <a:ext cx="3454298" cy="1481328"/>
          </a:xfrm>
          <a:prstGeom prst="roundRect">
            <a:avLst>
              <a:gd name="adj" fmla="val 3086"/>
            </a:avLst>
          </a:prstGeom>
          <a:solidFill>
            <a:srgbClr val="FFFFFF"/>
          </a:solidFill>
          <a:ln w="12700">
            <a:solidFill>
              <a:srgbClr val="E5E9EF"/>
            </a:solidFill>
            <a:prstDash val="dash"/>
          </a:ln>
        </p:spPr>
      </p:sp>
      <p:sp>
        <p:nvSpPr>
          <p:cNvPr id="35" name="Shape 32"/>
          <p:cNvSpPr/>
          <p:nvPr/>
        </p:nvSpPr>
        <p:spPr>
          <a:xfrm>
            <a:off x="822960" y="4983480"/>
            <a:ext cx="548640" cy="548640"/>
          </a:xfrm>
          <a:prstGeom prst="ellipse">
            <a:avLst/>
          </a:prstGeom>
          <a:solidFill>
            <a:srgbClr val="142A4C"/>
          </a:solidFill>
          <a:ln/>
        </p:spPr>
      </p:sp>
      <p:pic>
        <p:nvPicPr>
          <p:cNvPr id="36" name="Image 1" descr="/home/claude/deck/icons/github.png"/>
          <p:cNvPicPr>
            <a:picLocks noChangeAspect="1"/>
          </p:cNvPicPr>
          <p:nvPr/>
        </p:nvPicPr>
        <p:blipFill>
          <a:blip r:embed="rId4"/>
          <a:stretch>
            <a:fillRect/>
          </a:stretch>
        </p:blipFill>
        <p:spPr>
          <a:xfrm>
            <a:off x="960120" y="5120640"/>
            <a:ext cx="274320" cy="274320"/>
          </a:xfrm>
          <a:prstGeom prst="rect">
            <a:avLst/>
          </a:prstGeom>
        </p:spPr>
      </p:pic>
      <p:sp>
        <p:nvSpPr>
          <p:cNvPr id="37" name="Text 33"/>
          <p:cNvSpPr/>
          <p:nvPr/>
        </p:nvSpPr>
        <p:spPr>
          <a:xfrm>
            <a:off x="777546" y="5760720"/>
            <a:ext cx="740704" cy="770684"/>
          </a:xfrm>
          <a:prstGeom prst="rect">
            <a:avLst/>
          </a:prstGeom>
          <a:noFill/>
          <a:ln/>
        </p:spPr>
        <p:txBody>
          <a:bodyPr wrap="square" lIns="0" tIns="0" rIns="0" bIns="0" rtlCol="0" anchor="t"/>
          <a:lstStyle/>
          <a:p>
            <a:pPr marL="0" indent="0" algn="l">
              <a:buNone/>
            </a:pPr>
            <a:r>
              <a:rPr lang="en-US" sz="1250" b="1" dirty="0">
                <a:solidFill>
                  <a:srgbClr val="1B2430"/>
                </a:solidFill>
                <a:latin typeface="Calibri" pitchFamily="34" charset="0"/>
                <a:ea typeface="Calibri" pitchFamily="34" charset="-122"/>
                <a:cs typeface="Calibri" pitchFamily="34" charset="-120"/>
              </a:rPr>
              <a:t>Member 1 · GitHub</a:t>
            </a:r>
            <a:endParaRPr lang="en-US" sz="1250" dirty="0"/>
          </a:p>
        </p:txBody>
      </p:sp>
      <p:sp>
        <p:nvSpPr>
          <p:cNvPr id="40" name="Shape 36"/>
          <p:cNvSpPr/>
          <p:nvPr/>
        </p:nvSpPr>
        <p:spPr>
          <a:xfrm>
            <a:off x="4368698" y="4754880"/>
            <a:ext cx="3454298" cy="1481328"/>
          </a:xfrm>
          <a:prstGeom prst="roundRect">
            <a:avLst>
              <a:gd name="adj" fmla="val 3086"/>
            </a:avLst>
          </a:prstGeom>
          <a:solidFill>
            <a:srgbClr val="FFFFFF"/>
          </a:solidFill>
          <a:ln w="12700">
            <a:solidFill>
              <a:srgbClr val="E5E9EF"/>
            </a:solidFill>
            <a:prstDash val="dash"/>
          </a:ln>
        </p:spPr>
      </p:sp>
      <p:sp>
        <p:nvSpPr>
          <p:cNvPr id="41" name="Shape 37"/>
          <p:cNvSpPr/>
          <p:nvPr/>
        </p:nvSpPr>
        <p:spPr>
          <a:xfrm>
            <a:off x="4597298" y="4983480"/>
            <a:ext cx="548640" cy="548640"/>
          </a:xfrm>
          <a:prstGeom prst="ellipse">
            <a:avLst/>
          </a:prstGeom>
          <a:solidFill>
            <a:srgbClr val="142A4C"/>
          </a:solidFill>
          <a:ln/>
        </p:spPr>
      </p:sp>
      <p:pic>
        <p:nvPicPr>
          <p:cNvPr id="42" name="Image 2" descr="/home/claude/deck/icons/github.png"/>
          <p:cNvPicPr>
            <a:picLocks noChangeAspect="1"/>
          </p:cNvPicPr>
          <p:nvPr/>
        </p:nvPicPr>
        <p:blipFill>
          <a:blip r:embed="rId4"/>
          <a:stretch>
            <a:fillRect/>
          </a:stretch>
        </p:blipFill>
        <p:spPr>
          <a:xfrm>
            <a:off x="4734458" y="5120640"/>
            <a:ext cx="274320" cy="274320"/>
          </a:xfrm>
          <a:prstGeom prst="rect">
            <a:avLst/>
          </a:prstGeom>
        </p:spPr>
      </p:pic>
      <p:sp>
        <p:nvSpPr>
          <p:cNvPr id="43" name="Text 38"/>
          <p:cNvSpPr/>
          <p:nvPr/>
        </p:nvSpPr>
        <p:spPr>
          <a:xfrm>
            <a:off x="4551191" y="5747004"/>
            <a:ext cx="713564" cy="274320"/>
          </a:xfrm>
          <a:prstGeom prst="rect">
            <a:avLst/>
          </a:prstGeom>
          <a:noFill/>
          <a:ln/>
        </p:spPr>
        <p:txBody>
          <a:bodyPr wrap="square" lIns="0" tIns="0" rIns="0" bIns="0" rtlCol="0" anchor="t"/>
          <a:lstStyle/>
          <a:p>
            <a:pPr marL="0" indent="0" algn="l">
              <a:buNone/>
            </a:pPr>
            <a:r>
              <a:rPr lang="en-US" sz="1250" b="1" dirty="0">
                <a:solidFill>
                  <a:srgbClr val="1B2430"/>
                </a:solidFill>
                <a:latin typeface="Calibri" pitchFamily="34" charset="0"/>
                <a:ea typeface="Calibri" pitchFamily="34" charset="-122"/>
                <a:cs typeface="Calibri" pitchFamily="34" charset="-120"/>
              </a:rPr>
              <a:t>Member 2 · GitHub</a:t>
            </a:r>
            <a:endParaRPr lang="en-US" sz="1250" dirty="0"/>
          </a:p>
        </p:txBody>
      </p:sp>
      <p:sp>
        <p:nvSpPr>
          <p:cNvPr id="46" name="Shape 41"/>
          <p:cNvSpPr/>
          <p:nvPr/>
        </p:nvSpPr>
        <p:spPr>
          <a:xfrm>
            <a:off x="8143037" y="4754880"/>
            <a:ext cx="3454298" cy="1481328"/>
          </a:xfrm>
          <a:prstGeom prst="roundRect">
            <a:avLst>
              <a:gd name="adj" fmla="val 3086"/>
            </a:avLst>
          </a:prstGeom>
          <a:solidFill>
            <a:srgbClr val="FFFFFF"/>
          </a:solidFill>
          <a:ln w="12700">
            <a:solidFill>
              <a:srgbClr val="E5E9EF"/>
            </a:solidFill>
            <a:prstDash val="dash"/>
          </a:ln>
        </p:spPr>
      </p:sp>
      <p:sp>
        <p:nvSpPr>
          <p:cNvPr id="47" name="Shape 42"/>
          <p:cNvSpPr/>
          <p:nvPr/>
        </p:nvSpPr>
        <p:spPr>
          <a:xfrm>
            <a:off x="8371637" y="4983480"/>
            <a:ext cx="548640" cy="548640"/>
          </a:xfrm>
          <a:prstGeom prst="ellipse">
            <a:avLst/>
          </a:prstGeom>
          <a:solidFill>
            <a:srgbClr val="142A4C"/>
          </a:solidFill>
          <a:ln/>
        </p:spPr>
      </p:sp>
      <p:pic>
        <p:nvPicPr>
          <p:cNvPr id="48" name="Image 3" descr="/home/claude/deck/icons/folder.png"/>
          <p:cNvPicPr>
            <a:picLocks noChangeAspect="1"/>
          </p:cNvPicPr>
          <p:nvPr/>
        </p:nvPicPr>
        <p:blipFill>
          <a:blip r:embed="rId5"/>
          <a:stretch>
            <a:fillRect/>
          </a:stretch>
        </p:blipFill>
        <p:spPr>
          <a:xfrm>
            <a:off x="8508797" y="5120640"/>
            <a:ext cx="274320" cy="274320"/>
          </a:xfrm>
          <a:prstGeom prst="rect">
            <a:avLst/>
          </a:prstGeom>
        </p:spPr>
      </p:pic>
      <p:sp>
        <p:nvSpPr>
          <p:cNvPr id="49" name="Text 43"/>
          <p:cNvSpPr/>
          <p:nvPr/>
        </p:nvSpPr>
        <p:spPr>
          <a:xfrm>
            <a:off x="9057437" y="5065776"/>
            <a:ext cx="2357018" cy="274320"/>
          </a:xfrm>
          <a:prstGeom prst="rect">
            <a:avLst/>
          </a:prstGeom>
          <a:noFill/>
          <a:ln/>
        </p:spPr>
        <p:txBody>
          <a:bodyPr wrap="square" lIns="0" tIns="0" rIns="0" bIns="0" rtlCol="0" anchor="t"/>
          <a:lstStyle/>
          <a:p>
            <a:pPr marL="0" indent="0" algn="l">
              <a:buNone/>
            </a:pPr>
            <a:r>
              <a:rPr lang="en-US" sz="1250" b="1" dirty="0">
                <a:solidFill>
                  <a:srgbClr val="1B2430"/>
                </a:solidFill>
                <a:latin typeface="Calibri" pitchFamily="34" charset="0"/>
                <a:ea typeface="Calibri" pitchFamily="34" charset="-122"/>
                <a:cs typeface="Calibri" pitchFamily="34" charset="-120"/>
              </a:rPr>
              <a:t>Repository Structure</a:t>
            </a:r>
            <a:endParaRPr lang="en-US" sz="1250" dirty="0"/>
          </a:p>
        </p:txBody>
      </p:sp>
      <p:sp>
        <p:nvSpPr>
          <p:cNvPr id="50" name="Text 44"/>
          <p:cNvSpPr/>
          <p:nvPr/>
        </p:nvSpPr>
        <p:spPr>
          <a:xfrm>
            <a:off x="9057437" y="5358384"/>
            <a:ext cx="2357018" cy="457200"/>
          </a:xfrm>
          <a:prstGeom prst="rect">
            <a:avLst/>
          </a:prstGeom>
          <a:noFill/>
          <a:ln/>
        </p:spPr>
        <p:txBody>
          <a:bodyPr wrap="square" lIns="0" tIns="0" rIns="0" bIns="0" rtlCol="0" anchor="t"/>
          <a:lstStyle/>
          <a:p>
            <a:pPr marL="0" indent="0" algn="l">
              <a:buNone/>
            </a:pPr>
            <a:r>
              <a:rPr lang="en-US" sz="900" dirty="0">
                <a:solidFill>
                  <a:srgbClr val="5F6A78"/>
                </a:solidFill>
                <a:latin typeface="Calibri" pitchFamily="34" charset="0"/>
                <a:ea typeface="Calibri" pitchFamily="34" charset="-122"/>
                <a:cs typeface="Calibri" pitchFamily="34" charset="-120"/>
              </a:rPr>
              <a:t>[REPOSITORY STRUCTURE SCREENSHOT]</a:t>
            </a:r>
            <a:endParaRPr lang="en-US" sz="900" dirty="0"/>
          </a:p>
        </p:txBody>
      </p:sp>
      <p:sp>
        <p:nvSpPr>
          <p:cNvPr id="51" name="Text 45"/>
          <p:cNvSpPr/>
          <p:nvPr/>
        </p:nvSpPr>
        <p:spPr>
          <a:xfrm>
            <a:off x="9057437" y="5779008"/>
            <a:ext cx="2357018" cy="274320"/>
          </a:xfrm>
          <a:prstGeom prst="rect">
            <a:avLst/>
          </a:prstGeom>
          <a:noFill/>
          <a:ln/>
        </p:spPr>
        <p:txBody>
          <a:bodyPr wrap="square" lIns="0" tIns="0" rIns="0" bIns="0" rtlCol="0" anchor="t"/>
          <a:lstStyle/>
          <a:p>
            <a:pPr marL="0" indent="0" algn="l">
              <a:buNone/>
            </a:pPr>
            <a:r>
              <a:rPr lang="en-US" sz="850" i="1" dirty="0">
                <a:solidFill>
                  <a:srgbClr val="93A0AD"/>
                </a:solidFill>
                <a:latin typeface="Calibri" pitchFamily="34" charset="0"/>
                <a:ea typeface="Calibri" pitchFamily="34" charset="-122"/>
                <a:cs typeface="Calibri" pitchFamily="34" charset="-120"/>
              </a:rPr>
              <a:t>Evidence of development activity</a:t>
            </a:r>
            <a:endParaRPr lang="en-US" sz="850" dirty="0"/>
          </a:p>
        </p:txBody>
      </p:sp>
      <p:sp>
        <p:nvSpPr>
          <p:cNvPr id="52" name="Text 46"/>
          <p:cNvSpPr/>
          <p:nvPr/>
        </p:nvSpPr>
        <p:spPr>
          <a:xfrm>
            <a:off x="11048695" y="6400800"/>
            <a:ext cx="548640" cy="274320"/>
          </a:xfrm>
          <a:prstGeom prst="rect">
            <a:avLst/>
          </a:prstGeom>
          <a:noFill/>
          <a:ln/>
        </p:spPr>
        <p:txBody>
          <a:bodyPr wrap="square" lIns="0" tIns="0" rIns="0" bIns="0" rtlCol="0" anchor="t"/>
          <a:lstStyle/>
          <a:p>
            <a:pPr marL="0" indent="0" algn="r">
              <a:buNone/>
            </a:pPr>
            <a:r>
              <a:rPr lang="en-US" sz="850" b="1" dirty="0">
                <a:solidFill>
                  <a:srgbClr val="5F6A78"/>
                </a:solidFill>
                <a:latin typeface="Calibri" pitchFamily="34" charset="0"/>
                <a:ea typeface="Calibri" pitchFamily="34" charset="-122"/>
                <a:cs typeface="Calibri" pitchFamily="34" charset="-120"/>
              </a:rPr>
              <a:t>01</a:t>
            </a:r>
            <a:endParaRPr lang="en-US" sz="850" dirty="0"/>
          </a:p>
        </p:txBody>
      </p:sp>
      <p:sp>
        <p:nvSpPr>
          <p:cNvPr id="53" name="Text 47"/>
          <p:cNvSpPr/>
          <p:nvPr/>
        </p:nvSpPr>
        <p:spPr>
          <a:xfrm>
            <a:off x="594360" y="6400800"/>
            <a:ext cx="3657600" cy="274320"/>
          </a:xfrm>
          <a:prstGeom prst="rect">
            <a:avLst/>
          </a:prstGeom>
          <a:noFill/>
          <a:ln/>
        </p:spPr>
        <p:txBody>
          <a:bodyPr wrap="square" lIns="0" tIns="0" rIns="0" bIns="0" rtlCol="0" anchor="t"/>
          <a:lstStyle/>
          <a:p>
            <a:pPr marL="0" indent="0" algn="l">
              <a:buNone/>
            </a:pPr>
            <a:r>
              <a:rPr lang="en-US" sz="850" kern="0" spc="50" dirty="0">
                <a:solidFill>
                  <a:srgbClr val="93A0AD"/>
                </a:solidFill>
                <a:latin typeface="Calibri" pitchFamily="34" charset="0"/>
                <a:ea typeface="Calibri" pitchFamily="34" charset="-122"/>
                <a:cs typeface="Calibri" pitchFamily="34" charset="-120"/>
              </a:rPr>
              <a:t>[DATE / TERM]</a:t>
            </a:r>
            <a:endParaRPr lang="en-US" sz="850" dirty="0"/>
          </a:p>
        </p:txBody>
      </p:sp>
      <p:pic>
        <p:nvPicPr>
          <p:cNvPr id="57" name="Picture 56">
            <a:extLst>
              <a:ext uri="{FF2B5EF4-FFF2-40B4-BE49-F238E27FC236}">
                <a16:creationId xmlns:a16="http://schemas.microsoft.com/office/drawing/2014/main" id="{C86048B8-2907-589B-7068-C5CBC91A9679}"/>
              </a:ext>
            </a:extLst>
          </p:cNvPr>
          <p:cNvPicPr>
            <a:picLocks noChangeAspect="1"/>
          </p:cNvPicPr>
          <p:nvPr/>
        </p:nvPicPr>
        <p:blipFill>
          <a:blip r:embed="rId6"/>
          <a:stretch>
            <a:fillRect/>
          </a:stretch>
        </p:blipFill>
        <p:spPr>
          <a:xfrm>
            <a:off x="5584796" y="4693978"/>
            <a:ext cx="1614646" cy="1872694"/>
          </a:xfrm>
          <a:prstGeom prst="rect">
            <a:avLst/>
          </a:prstGeom>
        </p:spPr>
      </p:pic>
      <p:pic>
        <p:nvPicPr>
          <p:cNvPr id="59" name="Picture 58">
            <a:extLst>
              <a:ext uri="{FF2B5EF4-FFF2-40B4-BE49-F238E27FC236}">
                <a16:creationId xmlns:a16="http://schemas.microsoft.com/office/drawing/2014/main" id="{71326E99-26FC-D3AA-E76C-2C677B043988}"/>
              </a:ext>
            </a:extLst>
          </p:cNvPr>
          <p:cNvPicPr>
            <a:picLocks noChangeAspect="1"/>
          </p:cNvPicPr>
          <p:nvPr/>
        </p:nvPicPr>
        <p:blipFill>
          <a:blip r:embed="rId7"/>
          <a:stretch>
            <a:fillRect/>
          </a:stretch>
        </p:blipFill>
        <p:spPr>
          <a:xfrm>
            <a:off x="2030291" y="4564136"/>
            <a:ext cx="1627520" cy="20025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t"/>
          <a:lstStyle/>
          <a:p>
            <a:pPr marL="0" indent="0" algn="l">
              <a:buNone/>
            </a:pPr>
            <a:r>
              <a:rPr lang="en-US" sz="1100" b="1" kern="0" spc="200" dirty="0">
                <a:solidFill>
                  <a:srgbClr val="17788F"/>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94360" y="749808"/>
            <a:ext cx="11002975" cy="603504"/>
          </a:xfrm>
          <a:prstGeom prst="rect">
            <a:avLst/>
          </a:prstGeom>
          <a:noFill/>
          <a:ln/>
        </p:spPr>
        <p:txBody>
          <a:bodyPr wrap="square" lIns="0" tIns="0" rIns="0" bIns="0" rtlCol="0" anchor="t"/>
          <a:lstStyle/>
          <a:p>
            <a:pPr marL="0" indent="0" algn="l">
              <a:buNone/>
            </a:pPr>
            <a:r>
              <a:rPr lang="en-US" sz="2700" b="1" dirty="0">
                <a:solidFill>
                  <a:srgbClr val="1B2430"/>
                </a:solidFill>
                <a:latin typeface="Cambria" pitchFamily="34" charset="0"/>
                <a:ea typeface="Cambria" pitchFamily="34" charset="-122"/>
                <a:cs typeface="Cambria" pitchFamily="34" charset="-120"/>
              </a:rPr>
              <a:t>Restaurants run on guesswork while their data sits unused</a:t>
            </a:r>
            <a:endParaRPr lang="en-US" sz="2700" dirty="0"/>
          </a:p>
        </p:txBody>
      </p:sp>
      <p:sp>
        <p:nvSpPr>
          <p:cNvPr id="4" name="Text 2"/>
          <p:cNvSpPr/>
          <p:nvPr/>
        </p:nvSpPr>
        <p:spPr>
          <a:xfrm>
            <a:off x="594360" y="1371600"/>
            <a:ext cx="11002975" cy="365760"/>
          </a:xfrm>
          <a:prstGeom prst="rect">
            <a:avLst/>
          </a:prstGeom>
          <a:noFill/>
          <a:ln/>
        </p:spPr>
        <p:txBody>
          <a:bodyPr wrap="square" lIns="0" tIns="0" rIns="0" bIns="0" rtlCol="0" anchor="t"/>
          <a:lstStyle/>
          <a:p>
            <a:pPr marL="0" indent="0" algn="l">
              <a:lnSpc>
                <a:spcPts val="1700"/>
              </a:lnSpc>
              <a:buNone/>
            </a:pPr>
            <a:r>
              <a:rPr lang="en-US" sz="1350" dirty="0">
                <a:solidFill>
                  <a:srgbClr val="5F6A78"/>
                </a:solidFill>
                <a:latin typeface="Calibri" pitchFamily="34" charset="0"/>
                <a:ea typeface="Calibri" pitchFamily="34" charset="-122"/>
                <a:cs typeface="Calibri" pitchFamily="34" charset="-120"/>
              </a:rPr>
              <a:t>Three recurring operational gaps trace back to one root cause — historical sales data that is never analyzed.</a:t>
            </a:r>
            <a:endParaRPr lang="en-US" sz="1350" dirty="0"/>
          </a:p>
        </p:txBody>
      </p:sp>
      <p:sp>
        <p:nvSpPr>
          <p:cNvPr id="5" name="Shape 3"/>
          <p:cNvSpPr/>
          <p:nvPr/>
        </p:nvSpPr>
        <p:spPr>
          <a:xfrm>
            <a:off x="594360" y="1874520"/>
            <a:ext cx="5486400" cy="932688"/>
          </a:xfrm>
          <a:prstGeom prst="roundRect">
            <a:avLst>
              <a:gd name="adj" fmla="val 4902"/>
            </a:avLst>
          </a:prstGeom>
          <a:solidFill>
            <a:srgbClr val="FFFFFF"/>
          </a:solidFill>
          <a:ln w="12700">
            <a:solidFill>
              <a:srgbClr val="E5E9EF"/>
            </a:solidFill>
            <a:prstDash val="solid"/>
          </a:ln>
          <a:effectLst>
            <a:outerShdw blurRad="88900" dist="25400" dir="5400000" algn="bl" rotWithShape="0">
              <a:srgbClr val="142A4C">
                <a:alpha val="10000"/>
              </a:srgbClr>
            </a:outerShdw>
          </a:effectLst>
        </p:spPr>
      </p:sp>
      <p:sp>
        <p:nvSpPr>
          <p:cNvPr id="6" name="Shape 4"/>
          <p:cNvSpPr/>
          <p:nvPr/>
        </p:nvSpPr>
        <p:spPr>
          <a:xfrm>
            <a:off x="886968" y="2066544"/>
            <a:ext cx="548640" cy="548640"/>
          </a:xfrm>
          <a:prstGeom prst="ellipse">
            <a:avLst/>
          </a:prstGeom>
          <a:solidFill>
            <a:srgbClr val="17788F"/>
          </a:solidFill>
          <a:ln/>
        </p:spPr>
      </p:sp>
      <p:pic>
        <p:nvPicPr>
          <p:cNvPr id="7" name="Image 0" descr="/home/claude/deck/icons/trendingup.png"/>
          <p:cNvPicPr>
            <a:picLocks noChangeAspect="1"/>
          </p:cNvPicPr>
          <p:nvPr/>
        </p:nvPicPr>
        <p:blipFill>
          <a:blip r:embed="rId3"/>
          <a:stretch>
            <a:fillRect/>
          </a:stretch>
        </p:blipFill>
        <p:spPr>
          <a:xfrm>
            <a:off x="1024128" y="2203704"/>
            <a:ext cx="274320" cy="274320"/>
          </a:xfrm>
          <a:prstGeom prst="rect">
            <a:avLst/>
          </a:prstGeom>
        </p:spPr>
      </p:pic>
      <p:sp>
        <p:nvSpPr>
          <p:cNvPr id="8" name="Text 5"/>
          <p:cNvSpPr/>
          <p:nvPr/>
        </p:nvSpPr>
        <p:spPr>
          <a:xfrm>
            <a:off x="1645920" y="2057400"/>
            <a:ext cx="4206240" cy="365760"/>
          </a:xfrm>
          <a:prstGeom prst="rect">
            <a:avLst/>
          </a:prstGeom>
          <a:noFill/>
          <a:ln/>
        </p:spPr>
        <p:txBody>
          <a:bodyPr wrap="square" lIns="0" tIns="0" rIns="0" bIns="0" rtlCol="0" anchor="t"/>
          <a:lstStyle/>
          <a:p>
            <a:pPr marL="0" indent="0" algn="l">
              <a:buNone/>
            </a:pPr>
            <a:r>
              <a:rPr lang="en-US" sz="1450" b="1" dirty="0">
                <a:solidFill>
                  <a:srgbClr val="1B2430"/>
                </a:solidFill>
                <a:latin typeface="Calibri" pitchFamily="34" charset="0"/>
                <a:ea typeface="Calibri" pitchFamily="34" charset="-122"/>
                <a:cs typeface="Calibri" pitchFamily="34" charset="-120"/>
              </a:rPr>
              <a:t>Demand shifts without warning</a:t>
            </a:r>
            <a:endParaRPr lang="en-US" sz="1450" dirty="0"/>
          </a:p>
        </p:txBody>
      </p:sp>
      <p:sp>
        <p:nvSpPr>
          <p:cNvPr id="9" name="Text 6"/>
          <p:cNvSpPr/>
          <p:nvPr/>
        </p:nvSpPr>
        <p:spPr>
          <a:xfrm>
            <a:off x="1645920" y="2404872"/>
            <a:ext cx="4206240" cy="384048"/>
          </a:xfrm>
          <a:prstGeom prst="rect">
            <a:avLst/>
          </a:prstGeom>
          <a:noFill/>
          <a:ln/>
        </p:spPr>
        <p:txBody>
          <a:bodyPr wrap="square" lIns="0" tIns="0" rIns="0" bIns="0" rtlCol="0" anchor="t"/>
          <a:lstStyle/>
          <a:p>
            <a:pPr marL="0" indent="0" algn="l">
              <a:buNone/>
            </a:pPr>
            <a:r>
              <a:rPr lang="en-US" sz="1100" dirty="0">
                <a:solidFill>
                  <a:srgbClr val="5F6A78"/>
                </a:solidFill>
                <a:latin typeface="Calibri" pitchFamily="34" charset="0"/>
                <a:ea typeface="Calibri" pitchFamily="34" charset="-122"/>
                <a:cs typeface="Calibri" pitchFamily="34" charset="-120"/>
              </a:rPr>
              <a:t>Orders swing day to day with no signal to plan against.</a:t>
            </a:r>
            <a:endParaRPr lang="en-US" sz="1100" dirty="0"/>
          </a:p>
        </p:txBody>
      </p:sp>
      <p:sp>
        <p:nvSpPr>
          <p:cNvPr id="10" name="Shape 7"/>
          <p:cNvSpPr/>
          <p:nvPr/>
        </p:nvSpPr>
        <p:spPr>
          <a:xfrm>
            <a:off x="594360" y="2971800"/>
            <a:ext cx="5486400" cy="932688"/>
          </a:xfrm>
          <a:prstGeom prst="roundRect">
            <a:avLst>
              <a:gd name="adj" fmla="val 4902"/>
            </a:avLst>
          </a:prstGeom>
          <a:solidFill>
            <a:srgbClr val="FFFFFF"/>
          </a:solidFill>
          <a:ln w="12700">
            <a:solidFill>
              <a:srgbClr val="E5E9EF"/>
            </a:solidFill>
            <a:prstDash val="solid"/>
          </a:ln>
          <a:effectLst>
            <a:outerShdw blurRad="88900" dist="25400" dir="5400000" algn="bl" rotWithShape="0">
              <a:srgbClr val="142A4C">
                <a:alpha val="10000"/>
              </a:srgbClr>
            </a:outerShdw>
          </a:effectLst>
        </p:spPr>
      </p:sp>
      <p:sp>
        <p:nvSpPr>
          <p:cNvPr id="11" name="Shape 8"/>
          <p:cNvSpPr/>
          <p:nvPr/>
        </p:nvSpPr>
        <p:spPr>
          <a:xfrm>
            <a:off x="886968" y="3163824"/>
            <a:ext cx="548640" cy="548640"/>
          </a:xfrm>
          <a:prstGeom prst="ellipse">
            <a:avLst/>
          </a:prstGeom>
          <a:solidFill>
            <a:srgbClr val="C68A38"/>
          </a:solidFill>
          <a:ln/>
        </p:spPr>
      </p:sp>
      <p:pic>
        <p:nvPicPr>
          <p:cNvPr id="12" name="Image 1" descr="/home/claude/deck/icons/barchart.png"/>
          <p:cNvPicPr>
            <a:picLocks noChangeAspect="1"/>
          </p:cNvPicPr>
          <p:nvPr/>
        </p:nvPicPr>
        <p:blipFill>
          <a:blip r:embed="rId4"/>
          <a:stretch>
            <a:fillRect/>
          </a:stretch>
        </p:blipFill>
        <p:spPr>
          <a:xfrm>
            <a:off x="1024128" y="3300984"/>
            <a:ext cx="274320" cy="274320"/>
          </a:xfrm>
          <a:prstGeom prst="rect">
            <a:avLst/>
          </a:prstGeom>
        </p:spPr>
      </p:pic>
      <p:sp>
        <p:nvSpPr>
          <p:cNvPr id="13" name="Text 9"/>
          <p:cNvSpPr/>
          <p:nvPr/>
        </p:nvSpPr>
        <p:spPr>
          <a:xfrm>
            <a:off x="1645920" y="3154680"/>
            <a:ext cx="4206240" cy="365760"/>
          </a:xfrm>
          <a:prstGeom prst="rect">
            <a:avLst/>
          </a:prstGeom>
          <a:noFill/>
          <a:ln/>
        </p:spPr>
        <p:txBody>
          <a:bodyPr wrap="square" lIns="0" tIns="0" rIns="0" bIns="0" rtlCol="0" anchor="t"/>
          <a:lstStyle/>
          <a:p>
            <a:pPr marL="0" indent="0" algn="l">
              <a:buNone/>
            </a:pPr>
            <a:r>
              <a:rPr lang="en-US" sz="1450" b="1" dirty="0">
                <a:solidFill>
                  <a:srgbClr val="1B2430"/>
                </a:solidFill>
                <a:latin typeface="Calibri" pitchFamily="34" charset="0"/>
                <a:ea typeface="Calibri" pitchFamily="34" charset="-122"/>
                <a:cs typeface="Calibri" pitchFamily="34" charset="-120"/>
              </a:rPr>
              <a:t>Over-preparation and shortages</a:t>
            </a:r>
            <a:endParaRPr lang="en-US" sz="1450" dirty="0"/>
          </a:p>
        </p:txBody>
      </p:sp>
      <p:sp>
        <p:nvSpPr>
          <p:cNvPr id="14" name="Text 10"/>
          <p:cNvSpPr/>
          <p:nvPr/>
        </p:nvSpPr>
        <p:spPr>
          <a:xfrm>
            <a:off x="1645920" y="3502152"/>
            <a:ext cx="4206240" cy="384048"/>
          </a:xfrm>
          <a:prstGeom prst="rect">
            <a:avLst/>
          </a:prstGeom>
          <a:noFill/>
          <a:ln/>
        </p:spPr>
        <p:txBody>
          <a:bodyPr wrap="square" lIns="0" tIns="0" rIns="0" bIns="0" rtlCol="0" anchor="t"/>
          <a:lstStyle/>
          <a:p>
            <a:pPr marL="0" indent="0" algn="l">
              <a:buNone/>
            </a:pPr>
            <a:r>
              <a:rPr lang="en-US" sz="1100" dirty="0">
                <a:solidFill>
                  <a:srgbClr val="5F6A78"/>
                </a:solidFill>
                <a:latin typeface="Calibri" pitchFamily="34" charset="0"/>
                <a:ea typeface="Calibri" pitchFamily="34" charset="-122"/>
                <a:cs typeface="Calibri" pitchFamily="34" charset="-120"/>
              </a:rPr>
              <a:t>Kitchens over-cook and waste, or run out mid-service.</a:t>
            </a:r>
            <a:endParaRPr lang="en-US" sz="1100" dirty="0"/>
          </a:p>
        </p:txBody>
      </p:sp>
      <p:sp>
        <p:nvSpPr>
          <p:cNvPr id="15" name="Shape 11"/>
          <p:cNvSpPr/>
          <p:nvPr/>
        </p:nvSpPr>
        <p:spPr>
          <a:xfrm>
            <a:off x="594360" y="4069080"/>
            <a:ext cx="5486400" cy="932688"/>
          </a:xfrm>
          <a:prstGeom prst="roundRect">
            <a:avLst>
              <a:gd name="adj" fmla="val 4902"/>
            </a:avLst>
          </a:prstGeom>
          <a:solidFill>
            <a:srgbClr val="FFFFFF"/>
          </a:solidFill>
          <a:ln w="12700">
            <a:solidFill>
              <a:srgbClr val="E5E9EF"/>
            </a:solidFill>
            <a:prstDash val="solid"/>
          </a:ln>
          <a:effectLst>
            <a:outerShdw blurRad="88900" dist="25400" dir="5400000" algn="bl" rotWithShape="0">
              <a:srgbClr val="142A4C">
                <a:alpha val="10000"/>
              </a:srgbClr>
            </a:outerShdw>
          </a:effectLst>
        </p:spPr>
      </p:sp>
      <p:sp>
        <p:nvSpPr>
          <p:cNvPr id="16" name="Shape 12"/>
          <p:cNvSpPr/>
          <p:nvPr/>
        </p:nvSpPr>
        <p:spPr>
          <a:xfrm>
            <a:off x="886968" y="4261104"/>
            <a:ext cx="548640" cy="548640"/>
          </a:xfrm>
          <a:prstGeom prst="ellipse">
            <a:avLst/>
          </a:prstGeom>
          <a:solidFill>
            <a:srgbClr val="505E92"/>
          </a:solidFill>
          <a:ln/>
        </p:spPr>
      </p:sp>
      <p:pic>
        <p:nvPicPr>
          <p:cNvPr id="17" name="Image 2" descr="/home/claude/deck/icons/target.png"/>
          <p:cNvPicPr>
            <a:picLocks noChangeAspect="1"/>
          </p:cNvPicPr>
          <p:nvPr/>
        </p:nvPicPr>
        <p:blipFill>
          <a:blip r:embed="rId5"/>
          <a:stretch>
            <a:fillRect/>
          </a:stretch>
        </p:blipFill>
        <p:spPr>
          <a:xfrm>
            <a:off x="1024128" y="4398264"/>
            <a:ext cx="274320" cy="274320"/>
          </a:xfrm>
          <a:prstGeom prst="rect">
            <a:avLst/>
          </a:prstGeom>
        </p:spPr>
      </p:pic>
      <p:sp>
        <p:nvSpPr>
          <p:cNvPr id="18" name="Text 13"/>
          <p:cNvSpPr/>
          <p:nvPr/>
        </p:nvSpPr>
        <p:spPr>
          <a:xfrm>
            <a:off x="1645920" y="4251960"/>
            <a:ext cx="4206240" cy="365760"/>
          </a:xfrm>
          <a:prstGeom prst="rect">
            <a:avLst/>
          </a:prstGeom>
          <a:noFill/>
          <a:ln/>
        </p:spPr>
        <p:txBody>
          <a:bodyPr wrap="square" lIns="0" tIns="0" rIns="0" bIns="0" rtlCol="0" anchor="t"/>
          <a:lstStyle/>
          <a:p>
            <a:pPr marL="0" indent="0" algn="l">
              <a:buNone/>
            </a:pPr>
            <a:r>
              <a:rPr lang="en-US" sz="1450" b="1" dirty="0">
                <a:solidFill>
                  <a:srgbClr val="1B2430"/>
                </a:solidFill>
                <a:latin typeface="Calibri" pitchFamily="34" charset="0"/>
                <a:ea typeface="Calibri" pitchFamily="34" charset="-122"/>
                <a:cs typeface="Calibri" pitchFamily="34" charset="-120"/>
              </a:rPr>
              <a:t>Inventory ordered on habit</a:t>
            </a:r>
            <a:endParaRPr lang="en-US" sz="1450" dirty="0"/>
          </a:p>
        </p:txBody>
      </p:sp>
      <p:sp>
        <p:nvSpPr>
          <p:cNvPr id="19" name="Text 14"/>
          <p:cNvSpPr/>
          <p:nvPr/>
        </p:nvSpPr>
        <p:spPr>
          <a:xfrm>
            <a:off x="1645920" y="4599432"/>
            <a:ext cx="4206240" cy="384048"/>
          </a:xfrm>
          <a:prstGeom prst="rect">
            <a:avLst/>
          </a:prstGeom>
          <a:noFill/>
          <a:ln/>
        </p:spPr>
        <p:txBody>
          <a:bodyPr wrap="square" lIns="0" tIns="0" rIns="0" bIns="0" rtlCol="0" anchor="t"/>
          <a:lstStyle/>
          <a:p>
            <a:pPr marL="0" indent="0" algn="l">
              <a:buNone/>
            </a:pPr>
            <a:r>
              <a:rPr lang="en-US" sz="1100" dirty="0">
                <a:solidFill>
                  <a:srgbClr val="5F6A78"/>
                </a:solidFill>
                <a:latin typeface="Calibri" pitchFamily="34" charset="0"/>
                <a:ea typeface="Calibri" pitchFamily="34" charset="-122"/>
                <a:cs typeface="Calibri" pitchFamily="34" charset="-120"/>
              </a:rPr>
              <a:t>Stock decisions ignore the demand history already recorded.</a:t>
            </a:r>
            <a:endParaRPr lang="en-US" sz="1100" dirty="0"/>
          </a:p>
        </p:txBody>
      </p:sp>
      <p:sp>
        <p:nvSpPr>
          <p:cNvPr id="20" name="Shape 15"/>
          <p:cNvSpPr/>
          <p:nvPr/>
        </p:nvSpPr>
        <p:spPr>
          <a:xfrm>
            <a:off x="594360" y="5166360"/>
            <a:ext cx="5486400" cy="914400"/>
          </a:xfrm>
          <a:prstGeom prst="roundRect">
            <a:avLst>
              <a:gd name="adj" fmla="val 5000"/>
            </a:avLst>
          </a:prstGeom>
          <a:solidFill>
            <a:srgbClr val="FFFFFF"/>
          </a:solidFill>
          <a:ln w="12700">
            <a:solidFill>
              <a:srgbClr val="E5E9EF"/>
            </a:solidFill>
            <a:prstDash val="solid"/>
          </a:ln>
          <a:effectLst>
            <a:outerShdw blurRad="88900" dist="25400" dir="5400000" algn="bl" rotWithShape="0">
              <a:srgbClr val="142A4C">
                <a:alpha val="10000"/>
              </a:srgbClr>
            </a:outerShdw>
          </a:effectLst>
        </p:spPr>
      </p:sp>
      <p:sp>
        <p:nvSpPr>
          <p:cNvPr id="21" name="Text 16"/>
          <p:cNvSpPr/>
          <p:nvPr/>
        </p:nvSpPr>
        <p:spPr>
          <a:xfrm>
            <a:off x="822960" y="5276088"/>
            <a:ext cx="5029200" cy="219456"/>
          </a:xfrm>
          <a:prstGeom prst="rect">
            <a:avLst/>
          </a:prstGeom>
          <a:noFill/>
          <a:ln/>
        </p:spPr>
        <p:txBody>
          <a:bodyPr wrap="square" lIns="0" tIns="0" rIns="0" bIns="0" rtlCol="0" anchor="t"/>
          <a:lstStyle/>
          <a:p>
            <a:pPr marL="0" indent="0" algn="l">
              <a:buNone/>
            </a:pPr>
            <a:r>
              <a:rPr lang="en-US" sz="1050" b="1" dirty="0">
                <a:solidFill>
                  <a:srgbClr val="1B2430"/>
                </a:solidFill>
                <a:latin typeface="Calibri" pitchFamily="34" charset="0"/>
                <a:ea typeface="Calibri" pitchFamily="34" charset="-122"/>
                <a:cs typeface="Calibri" pitchFamily="34" charset="-120"/>
              </a:rPr>
              <a:t>Historical demand — recorded but never analyzed</a:t>
            </a:r>
            <a:endParaRPr lang="en-US" sz="1050" dirty="0"/>
          </a:p>
        </p:txBody>
      </p:sp>
      <p:sp>
        <p:nvSpPr>
          <p:cNvPr id="22" name="Shape 17"/>
          <p:cNvSpPr/>
          <p:nvPr/>
        </p:nvSpPr>
        <p:spPr>
          <a:xfrm>
            <a:off x="868680" y="6007608"/>
            <a:ext cx="4937760" cy="0"/>
          </a:xfrm>
          <a:prstGeom prst="line">
            <a:avLst/>
          </a:prstGeom>
          <a:noFill/>
          <a:ln w="9525">
            <a:solidFill>
              <a:srgbClr val="E5E9EF"/>
            </a:solidFill>
            <a:prstDash val="solid"/>
          </a:ln>
        </p:spPr>
      </p:sp>
      <p:sp>
        <p:nvSpPr>
          <p:cNvPr id="23" name="Shape 18"/>
          <p:cNvSpPr/>
          <p:nvPr/>
        </p:nvSpPr>
        <p:spPr>
          <a:xfrm flipV="1">
            <a:off x="868680" y="5664708"/>
            <a:ext cx="395021" cy="160020"/>
          </a:xfrm>
          <a:prstGeom prst="line">
            <a:avLst/>
          </a:prstGeom>
          <a:noFill/>
          <a:ln w="22225">
            <a:solidFill>
              <a:srgbClr val="17788F"/>
            </a:solidFill>
            <a:prstDash val="solid"/>
          </a:ln>
        </p:spPr>
      </p:sp>
      <p:sp>
        <p:nvSpPr>
          <p:cNvPr id="24" name="Shape 19"/>
          <p:cNvSpPr/>
          <p:nvPr/>
        </p:nvSpPr>
        <p:spPr>
          <a:xfrm>
            <a:off x="1263701" y="5664708"/>
            <a:ext cx="395021" cy="205740"/>
          </a:xfrm>
          <a:prstGeom prst="line">
            <a:avLst/>
          </a:prstGeom>
          <a:noFill/>
          <a:ln w="22225">
            <a:solidFill>
              <a:srgbClr val="17788F"/>
            </a:solidFill>
            <a:prstDash val="solid"/>
          </a:ln>
        </p:spPr>
      </p:sp>
      <p:sp>
        <p:nvSpPr>
          <p:cNvPr id="25" name="Shape 20"/>
          <p:cNvSpPr/>
          <p:nvPr/>
        </p:nvSpPr>
        <p:spPr>
          <a:xfrm flipV="1">
            <a:off x="1658722" y="5724144"/>
            <a:ext cx="395021" cy="146304"/>
          </a:xfrm>
          <a:prstGeom prst="line">
            <a:avLst/>
          </a:prstGeom>
          <a:noFill/>
          <a:ln w="22225">
            <a:solidFill>
              <a:srgbClr val="17788F"/>
            </a:solidFill>
            <a:prstDash val="solid"/>
          </a:ln>
        </p:spPr>
      </p:sp>
      <p:sp>
        <p:nvSpPr>
          <p:cNvPr id="26" name="Shape 21"/>
          <p:cNvSpPr/>
          <p:nvPr/>
        </p:nvSpPr>
        <p:spPr>
          <a:xfrm>
            <a:off x="2053742" y="5724144"/>
            <a:ext cx="395021" cy="192024"/>
          </a:xfrm>
          <a:prstGeom prst="line">
            <a:avLst/>
          </a:prstGeom>
          <a:noFill/>
          <a:ln w="22225">
            <a:solidFill>
              <a:srgbClr val="17788F"/>
            </a:solidFill>
            <a:prstDash val="solid"/>
          </a:ln>
        </p:spPr>
      </p:sp>
      <p:sp>
        <p:nvSpPr>
          <p:cNvPr id="27" name="Shape 22"/>
          <p:cNvSpPr/>
          <p:nvPr/>
        </p:nvSpPr>
        <p:spPr>
          <a:xfrm flipV="1">
            <a:off x="2448763" y="5756148"/>
            <a:ext cx="395021" cy="160020"/>
          </a:xfrm>
          <a:prstGeom prst="line">
            <a:avLst/>
          </a:prstGeom>
          <a:noFill/>
          <a:ln w="22225">
            <a:solidFill>
              <a:srgbClr val="17788F"/>
            </a:solidFill>
            <a:prstDash val="solid"/>
          </a:ln>
        </p:spPr>
      </p:sp>
      <p:sp>
        <p:nvSpPr>
          <p:cNvPr id="28" name="Shape 23"/>
          <p:cNvSpPr/>
          <p:nvPr/>
        </p:nvSpPr>
        <p:spPr>
          <a:xfrm>
            <a:off x="2843784" y="5756148"/>
            <a:ext cx="395021" cy="91440"/>
          </a:xfrm>
          <a:prstGeom prst="line">
            <a:avLst/>
          </a:prstGeom>
          <a:noFill/>
          <a:ln w="22225">
            <a:solidFill>
              <a:srgbClr val="17788F"/>
            </a:solidFill>
            <a:prstDash val="solid"/>
          </a:ln>
        </p:spPr>
      </p:sp>
      <p:sp>
        <p:nvSpPr>
          <p:cNvPr id="29" name="Shape 24"/>
          <p:cNvSpPr/>
          <p:nvPr/>
        </p:nvSpPr>
        <p:spPr>
          <a:xfrm flipV="1">
            <a:off x="3238805" y="5641848"/>
            <a:ext cx="395021" cy="205740"/>
          </a:xfrm>
          <a:prstGeom prst="line">
            <a:avLst/>
          </a:prstGeom>
          <a:noFill/>
          <a:ln w="22225">
            <a:solidFill>
              <a:srgbClr val="17788F"/>
            </a:solidFill>
            <a:prstDash val="solid"/>
          </a:ln>
        </p:spPr>
      </p:sp>
      <p:sp>
        <p:nvSpPr>
          <p:cNvPr id="30" name="Shape 25"/>
          <p:cNvSpPr/>
          <p:nvPr/>
        </p:nvSpPr>
        <p:spPr>
          <a:xfrm>
            <a:off x="3633826" y="5641848"/>
            <a:ext cx="395021" cy="237744"/>
          </a:xfrm>
          <a:prstGeom prst="line">
            <a:avLst/>
          </a:prstGeom>
          <a:noFill/>
          <a:ln w="22225">
            <a:solidFill>
              <a:srgbClr val="17788F"/>
            </a:solidFill>
            <a:prstDash val="solid"/>
          </a:ln>
        </p:spPr>
      </p:sp>
      <p:sp>
        <p:nvSpPr>
          <p:cNvPr id="31" name="Shape 26"/>
          <p:cNvSpPr/>
          <p:nvPr/>
        </p:nvSpPr>
        <p:spPr>
          <a:xfrm flipV="1">
            <a:off x="4028846" y="5705856"/>
            <a:ext cx="395021" cy="173736"/>
          </a:xfrm>
          <a:prstGeom prst="line">
            <a:avLst/>
          </a:prstGeom>
          <a:noFill/>
          <a:ln w="22225">
            <a:solidFill>
              <a:srgbClr val="17788F"/>
            </a:solidFill>
            <a:prstDash val="solid"/>
          </a:ln>
        </p:spPr>
      </p:sp>
      <p:sp>
        <p:nvSpPr>
          <p:cNvPr id="32" name="Shape 27"/>
          <p:cNvSpPr/>
          <p:nvPr/>
        </p:nvSpPr>
        <p:spPr>
          <a:xfrm>
            <a:off x="4423867" y="5705856"/>
            <a:ext cx="395021" cy="155448"/>
          </a:xfrm>
          <a:prstGeom prst="line">
            <a:avLst/>
          </a:prstGeom>
          <a:noFill/>
          <a:ln w="22225">
            <a:solidFill>
              <a:srgbClr val="17788F"/>
            </a:solidFill>
            <a:prstDash val="solid"/>
          </a:ln>
        </p:spPr>
      </p:sp>
      <p:sp>
        <p:nvSpPr>
          <p:cNvPr id="33" name="Shape 28"/>
          <p:cNvSpPr/>
          <p:nvPr/>
        </p:nvSpPr>
        <p:spPr>
          <a:xfrm flipV="1">
            <a:off x="4818888" y="5742432"/>
            <a:ext cx="395021" cy="118872"/>
          </a:xfrm>
          <a:prstGeom prst="line">
            <a:avLst/>
          </a:prstGeom>
          <a:noFill/>
          <a:ln w="22225">
            <a:solidFill>
              <a:srgbClr val="17788F"/>
            </a:solidFill>
            <a:prstDash val="solid"/>
          </a:ln>
        </p:spPr>
      </p:sp>
      <p:sp>
        <p:nvSpPr>
          <p:cNvPr id="34" name="Shape 29"/>
          <p:cNvSpPr/>
          <p:nvPr/>
        </p:nvSpPr>
        <p:spPr>
          <a:xfrm>
            <a:off x="5213909" y="5742432"/>
            <a:ext cx="592531" cy="155448"/>
          </a:xfrm>
          <a:prstGeom prst="line">
            <a:avLst/>
          </a:prstGeom>
          <a:noFill/>
          <a:ln w="22225">
            <a:solidFill>
              <a:srgbClr val="17788F"/>
            </a:solidFill>
            <a:prstDash val="solid"/>
          </a:ln>
        </p:spPr>
      </p:sp>
      <p:sp>
        <p:nvSpPr>
          <p:cNvPr id="35" name="Shape 30"/>
          <p:cNvSpPr/>
          <p:nvPr/>
        </p:nvSpPr>
        <p:spPr>
          <a:xfrm>
            <a:off x="6537960" y="1874520"/>
            <a:ext cx="5059375" cy="4206240"/>
          </a:xfrm>
          <a:prstGeom prst="roundRect">
            <a:avLst>
              <a:gd name="adj" fmla="val 1304"/>
            </a:avLst>
          </a:prstGeom>
          <a:solidFill>
            <a:srgbClr val="142A4C"/>
          </a:solidFill>
          <a:ln/>
        </p:spPr>
      </p:sp>
      <p:sp>
        <p:nvSpPr>
          <p:cNvPr id="36" name="Text 31"/>
          <p:cNvSpPr/>
          <p:nvPr/>
        </p:nvSpPr>
        <p:spPr>
          <a:xfrm>
            <a:off x="7040880" y="2331720"/>
            <a:ext cx="4053535" cy="274320"/>
          </a:xfrm>
          <a:prstGeom prst="rect">
            <a:avLst/>
          </a:prstGeom>
          <a:noFill/>
          <a:ln/>
        </p:spPr>
        <p:txBody>
          <a:bodyPr wrap="square" lIns="0" tIns="0" rIns="0" bIns="0" rtlCol="0" anchor="t"/>
          <a:lstStyle/>
          <a:p>
            <a:pPr marL="0" indent="0" algn="l">
              <a:buNone/>
            </a:pPr>
            <a:r>
              <a:rPr lang="en-US" sz="1100" b="1" kern="0" spc="200" dirty="0">
                <a:solidFill>
                  <a:srgbClr val="9EC6D8"/>
                </a:solidFill>
                <a:latin typeface="Calibri" pitchFamily="34" charset="0"/>
                <a:ea typeface="Calibri" pitchFamily="34" charset="-122"/>
                <a:cs typeface="Calibri" pitchFamily="34" charset="-120"/>
              </a:rPr>
              <a:t>THE OPPORTUNITY</a:t>
            </a:r>
            <a:endParaRPr lang="en-US" sz="1100" dirty="0"/>
          </a:p>
        </p:txBody>
      </p:sp>
      <p:sp>
        <p:nvSpPr>
          <p:cNvPr id="37" name="Text 32"/>
          <p:cNvSpPr/>
          <p:nvPr/>
        </p:nvSpPr>
        <p:spPr>
          <a:xfrm>
            <a:off x="7040880" y="2697480"/>
            <a:ext cx="4053535" cy="1143000"/>
          </a:xfrm>
          <a:prstGeom prst="rect">
            <a:avLst/>
          </a:prstGeom>
          <a:noFill/>
          <a:ln/>
        </p:spPr>
        <p:txBody>
          <a:bodyPr wrap="square" lIns="0" tIns="0" rIns="0" bIns="0" rtlCol="0" anchor="t"/>
          <a:lstStyle/>
          <a:p>
            <a:pPr marL="0" indent="0" algn="l">
              <a:lnSpc>
                <a:spcPts val="2700"/>
              </a:lnSpc>
              <a:buNone/>
            </a:pPr>
            <a:r>
              <a:rPr lang="en-US" sz="2200" b="1" dirty="0">
                <a:solidFill>
                  <a:srgbClr val="FFFFFF"/>
                </a:solidFill>
                <a:latin typeface="Cambria" pitchFamily="34" charset="0"/>
                <a:ea typeface="Cambria" pitchFamily="34" charset="-122"/>
                <a:cs typeface="Cambria" pitchFamily="34" charset="-120"/>
              </a:rPr>
              <a:t>The data already exists.</a:t>
            </a:r>
            <a:endParaRPr lang="en-US" sz="2200" dirty="0"/>
          </a:p>
          <a:p>
            <a:pPr marL="0" indent="0" algn="l">
              <a:lnSpc>
                <a:spcPts val="2700"/>
              </a:lnSpc>
              <a:buNone/>
            </a:pPr>
            <a:r>
              <a:rPr lang="en-US" sz="2200" b="1" dirty="0">
                <a:solidFill>
                  <a:srgbClr val="FFFFFF"/>
                </a:solidFill>
                <a:latin typeface="Cambria" pitchFamily="34" charset="0"/>
                <a:ea typeface="Cambria" pitchFamily="34" charset="-122"/>
                <a:cs typeface="Cambria" pitchFamily="34" charset="-120"/>
              </a:rPr>
              <a:t>It has just never been used.</a:t>
            </a:r>
            <a:endParaRPr lang="en-US" sz="2200" dirty="0"/>
          </a:p>
        </p:txBody>
      </p:sp>
      <p:sp>
        <p:nvSpPr>
          <p:cNvPr id="38" name="Shape 33"/>
          <p:cNvSpPr/>
          <p:nvPr/>
        </p:nvSpPr>
        <p:spPr>
          <a:xfrm flipV="1">
            <a:off x="7040880" y="4023360"/>
            <a:ext cx="608030" cy="114300"/>
          </a:xfrm>
          <a:prstGeom prst="line">
            <a:avLst/>
          </a:prstGeom>
          <a:noFill/>
          <a:ln w="19050">
            <a:solidFill>
              <a:srgbClr val="3E6FA0"/>
            </a:solidFill>
            <a:prstDash val="solid"/>
          </a:ln>
        </p:spPr>
      </p:sp>
      <p:sp>
        <p:nvSpPr>
          <p:cNvPr id="39" name="Shape 34"/>
          <p:cNvSpPr/>
          <p:nvPr/>
        </p:nvSpPr>
        <p:spPr>
          <a:xfrm>
            <a:off x="7648910" y="4023360"/>
            <a:ext cx="608030" cy="137160"/>
          </a:xfrm>
          <a:prstGeom prst="line">
            <a:avLst/>
          </a:prstGeom>
          <a:noFill/>
          <a:ln w="19050">
            <a:solidFill>
              <a:srgbClr val="3E6FA0"/>
            </a:solidFill>
            <a:prstDash val="solid"/>
          </a:ln>
        </p:spPr>
      </p:sp>
      <p:sp>
        <p:nvSpPr>
          <p:cNvPr id="40" name="Shape 35"/>
          <p:cNvSpPr/>
          <p:nvPr/>
        </p:nvSpPr>
        <p:spPr>
          <a:xfrm flipV="1">
            <a:off x="8256941" y="3977640"/>
            <a:ext cx="608030" cy="182880"/>
          </a:xfrm>
          <a:prstGeom prst="line">
            <a:avLst/>
          </a:prstGeom>
          <a:noFill/>
          <a:ln w="19050">
            <a:solidFill>
              <a:srgbClr val="3E6FA0"/>
            </a:solidFill>
            <a:prstDash val="solid"/>
          </a:ln>
        </p:spPr>
      </p:sp>
      <p:sp>
        <p:nvSpPr>
          <p:cNvPr id="41" name="Shape 36"/>
          <p:cNvSpPr/>
          <p:nvPr/>
        </p:nvSpPr>
        <p:spPr>
          <a:xfrm>
            <a:off x="8864971" y="3977640"/>
            <a:ext cx="608030" cy="114300"/>
          </a:xfrm>
          <a:prstGeom prst="line">
            <a:avLst/>
          </a:prstGeom>
          <a:noFill/>
          <a:ln w="19050">
            <a:solidFill>
              <a:srgbClr val="3E6FA0"/>
            </a:solidFill>
            <a:prstDash val="solid"/>
          </a:ln>
        </p:spPr>
      </p:sp>
      <p:sp>
        <p:nvSpPr>
          <p:cNvPr id="42" name="Shape 37"/>
          <p:cNvSpPr/>
          <p:nvPr/>
        </p:nvSpPr>
        <p:spPr>
          <a:xfrm flipV="1">
            <a:off x="9473001" y="3931920"/>
            <a:ext cx="608030" cy="160020"/>
          </a:xfrm>
          <a:prstGeom prst="line">
            <a:avLst/>
          </a:prstGeom>
          <a:noFill/>
          <a:ln w="19050">
            <a:solidFill>
              <a:srgbClr val="3E6FA0"/>
            </a:solidFill>
            <a:prstDash val="solid"/>
          </a:ln>
        </p:spPr>
      </p:sp>
      <p:sp>
        <p:nvSpPr>
          <p:cNvPr id="43" name="Shape 38"/>
          <p:cNvSpPr/>
          <p:nvPr/>
        </p:nvSpPr>
        <p:spPr>
          <a:xfrm>
            <a:off x="10081031" y="3931920"/>
            <a:ext cx="1013384" cy="114300"/>
          </a:xfrm>
          <a:prstGeom prst="line">
            <a:avLst/>
          </a:prstGeom>
          <a:noFill/>
          <a:ln w="19050">
            <a:solidFill>
              <a:srgbClr val="3E6FA0"/>
            </a:solidFill>
            <a:prstDash val="solid"/>
          </a:ln>
        </p:spPr>
      </p:sp>
      <p:sp>
        <p:nvSpPr>
          <p:cNvPr id="44" name="Shape 39"/>
          <p:cNvSpPr/>
          <p:nvPr/>
        </p:nvSpPr>
        <p:spPr>
          <a:xfrm>
            <a:off x="7059168" y="4526280"/>
            <a:ext cx="4016959" cy="0"/>
          </a:xfrm>
          <a:prstGeom prst="line">
            <a:avLst/>
          </a:prstGeom>
          <a:noFill/>
          <a:ln w="12700">
            <a:solidFill>
              <a:srgbClr val="33456A"/>
            </a:solidFill>
            <a:prstDash val="solid"/>
          </a:ln>
        </p:spPr>
      </p:sp>
      <p:sp>
        <p:nvSpPr>
          <p:cNvPr id="45" name="Text 40"/>
          <p:cNvSpPr/>
          <p:nvPr/>
        </p:nvSpPr>
        <p:spPr>
          <a:xfrm>
            <a:off x="7040880" y="4727448"/>
            <a:ext cx="4053535" cy="1280160"/>
          </a:xfrm>
          <a:prstGeom prst="rect">
            <a:avLst/>
          </a:prstGeom>
          <a:noFill/>
          <a:ln/>
        </p:spPr>
        <p:txBody>
          <a:bodyPr wrap="square" lIns="0" tIns="0" rIns="0" bIns="0" rtlCol="0" anchor="t"/>
          <a:lstStyle/>
          <a:p>
            <a:pPr marL="0" indent="0" algn="l">
              <a:lnSpc>
                <a:spcPts val="2000"/>
              </a:lnSpc>
              <a:buNone/>
            </a:pPr>
            <a:r>
              <a:rPr lang="en-US" sz="1400" dirty="0">
                <a:solidFill>
                  <a:srgbClr val="E1E8F2"/>
                </a:solidFill>
                <a:latin typeface="Calibri" pitchFamily="34" charset="0"/>
                <a:ea typeface="Calibri" pitchFamily="34" charset="-122"/>
                <a:cs typeface="Calibri" pitchFamily="34" charset="-120"/>
              </a:rPr>
              <a:t>Use historical restaurant data to identify sales patterns and predict food demand for better operational decisions.</a:t>
            </a:r>
            <a:endParaRPr lang="en-US" sz="1400" dirty="0"/>
          </a:p>
        </p:txBody>
      </p:sp>
      <p:sp>
        <p:nvSpPr>
          <p:cNvPr id="46" name="Shape 41"/>
          <p:cNvSpPr/>
          <p:nvPr/>
        </p:nvSpPr>
        <p:spPr>
          <a:xfrm>
            <a:off x="594360" y="6327648"/>
            <a:ext cx="11002975" cy="0"/>
          </a:xfrm>
          <a:prstGeom prst="line">
            <a:avLst/>
          </a:prstGeom>
          <a:noFill/>
          <a:ln w="9525">
            <a:solidFill>
              <a:srgbClr val="E5E9EF"/>
            </a:solidFill>
            <a:prstDash val="solid"/>
          </a:ln>
        </p:spPr>
      </p:sp>
      <p:sp>
        <p:nvSpPr>
          <p:cNvPr id="47" name="Text 42"/>
          <p:cNvSpPr/>
          <p:nvPr/>
        </p:nvSpPr>
        <p:spPr>
          <a:xfrm>
            <a:off x="594360" y="6400800"/>
            <a:ext cx="7772400" cy="274320"/>
          </a:xfrm>
          <a:prstGeom prst="rect">
            <a:avLst/>
          </a:prstGeom>
          <a:noFill/>
          <a:ln/>
        </p:spPr>
        <p:txBody>
          <a:bodyPr wrap="square" lIns="0" tIns="0" rIns="0" bIns="0" rtlCol="0" anchor="t"/>
          <a:lstStyle/>
          <a:p>
            <a:pPr marL="0" indent="0" algn="l">
              <a:buNone/>
            </a:pPr>
            <a:r>
              <a:rPr lang="en-US" sz="850" kern="0" spc="50" dirty="0">
                <a:solidFill>
                  <a:srgbClr val="93A0AD"/>
                </a:solidFill>
                <a:latin typeface="Calibri" pitchFamily="34" charset="0"/>
                <a:ea typeface="Calibri" pitchFamily="34" charset="-122"/>
                <a:cs typeface="Calibri" pitchFamily="34" charset="-120"/>
              </a:rPr>
              <a:t>Restaurant Sales Analytics &amp; Demand Prediction</a:t>
            </a:r>
            <a:endParaRPr lang="en-US" sz="850" dirty="0"/>
          </a:p>
        </p:txBody>
      </p:sp>
      <p:sp>
        <p:nvSpPr>
          <p:cNvPr id="48" name="Text 43"/>
          <p:cNvSpPr/>
          <p:nvPr/>
        </p:nvSpPr>
        <p:spPr>
          <a:xfrm>
            <a:off x="6110935" y="6400800"/>
            <a:ext cx="4937760" cy="274320"/>
          </a:xfrm>
          <a:prstGeom prst="rect">
            <a:avLst/>
          </a:prstGeom>
          <a:noFill/>
          <a:ln/>
        </p:spPr>
        <p:txBody>
          <a:bodyPr wrap="square" lIns="0" tIns="0" rIns="0" bIns="0" rtlCol="0" anchor="t"/>
          <a:lstStyle/>
          <a:p>
            <a:pPr marL="0" indent="0" algn="r">
              <a:buNone/>
            </a:pPr>
            <a:endParaRPr lang="en-US" sz="850" dirty="0"/>
          </a:p>
        </p:txBody>
      </p:sp>
      <p:sp>
        <p:nvSpPr>
          <p:cNvPr id="49" name="Text 44"/>
          <p:cNvSpPr/>
          <p:nvPr/>
        </p:nvSpPr>
        <p:spPr>
          <a:xfrm>
            <a:off x="11048695" y="6400800"/>
            <a:ext cx="548640" cy="274320"/>
          </a:xfrm>
          <a:prstGeom prst="rect">
            <a:avLst/>
          </a:prstGeom>
          <a:noFill/>
          <a:ln/>
        </p:spPr>
        <p:txBody>
          <a:bodyPr wrap="square" lIns="0" tIns="0" rIns="0" bIns="0" rtlCol="0" anchor="t"/>
          <a:lstStyle/>
          <a:p>
            <a:pPr marL="0" indent="0" algn="r">
              <a:buNone/>
            </a:pPr>
            <a:r>
              <a:rPr lang="en-US" sz="850" b="1" dirty="0">
                <a:solidFill>
                  <a:srgbClr val="5F6A78"/>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t"/>
          <a:lstStyle/>
          <a:p>
            <a:pPr marL="0" indent="0" algn="l">
              <a:buNone/>
            </a:pPr>
            <a:r>
              <a:rPr lang="en-US" sz="1100" b="1" kern="0" spc="200" dirty="0">
                <a:solidFill>
                  <a:srgbClr val="17788F"/>
                </a:solidFill>
                <a:latin typeface="Calibri" pitchFamily="34" charset="0"/>
                <a:ea typeface="Calibri" pitchFamily="34" charset="-122"/>
                <a:cs typeface="Calibri" pitchFamily="34" charset="-120"/>
              </a:rPr>
              <a:t>PROJECT SCOPE</a:t>
            </a:r>
            <a:endParaRPr lang="en-US" sz="1100" dirty="0"/>
          </a:p>
        </p:txBody>
      </p:sp>
      <p:sp>
        <p:nvSpPr>
          <p:cNvPr id="3" name="Text 1"/>
          <p:cNvSpPr/>
          <p:nvPr/>
        </p:nvSpPr>
        <p:spPr>
          <a:xfrm>
            <a:off x="594360" y="749808"/>
            <a:ext cx="11002975" cy="603504"/>
          </a:xfrm>
          <a:prstGeom prst="rect">
            <a:avLst/>
          </a:prstGeom>
          <a:noFill/>
          <a:ln/>
        </p:spPr>
        <p:txBody>
          <a:bodyPr wrap="square" lIns="0" tIns="0" rIns="0" bIns="0" rtlCol="0" anchor="t"/>
          <a:lstStyle/>
          <a:p>
            <a:pPr marL="0" indent="0" algn="l">
              <a:buNone/>
            </a:pPr>
            <a:r>
              <a:rPr lang="en-US" sz="2700" b="1" dirty="0">
                <a:solidFill>
                  <a:srgbClr val="1B2430"/>
                </a:solidFill>
                <a:latin typeface="Cambria" pitchFamily="34" charset="0"/>
                <a:ea typeface="Cambria" pitchFamily="34" charset="-122"/>
                <a:cs typeface="Cambria" pitchFamily="34" charset="-120"/>
              </a:rPr>
              <a:t>Six objectives, grouped into a single analyze–predict–decide arc</a:t>
            </a:r>
            <a:endParaRPr lang="en-US" sz="2700" dirty="0"/>
          </a:p>
        </p:txBody>
      </p:sp>
      <p:sp>
        <p:nvSpPr>
          <p:cNvPr id="4" name="Text 2"/>
          <p:cNvSpPr/>
          <p:nvPr/>
        </p:nvSpPr>
        <p:spPr>
          <a:xfrm>
            <a:off x="594360" y="1371600"/>
            <a:ext cx="11002975" cy="365760"/>
          </a:xfrm>
          <a:prstGeom prst="rect">
            <a:avLst/>
          </a:prstGeom>
          <a:noFill/>
          <a:ln/>
        </p:spPr>
        <p:txBody>
          <a:bodyPr wrap="square" lIns="0" tIns="0" rIns="0" bIns="0" rtlCol="0" anchor="t"/>
          <a:lstStyle/>
          <a:p>
            <a:pPr marL="0" indent="0" algn="l">
              <a:lnSpc>
                <a:spcPts val="1700"/>
              </a:lnSpc>
              <a:buNone/>
            </a:pPr>
            <a:r>
              <a:rPr lang="en-US" sz="1350" dirty="0">
                <a:solidFill>
                  <a:srgbClr val="5F6A78"/>
                </a:solidFill>
                <a:latin typeface="Calibri" pitchFamily="34" charset="0"/>
                <a:ea typeface="Calibri" pitchFamily="34" charset="-122"/>
                <a:cs typeface="Calibri" pitchFamily="34" charset="-120"/>
              </a:rPr>
              <a:t>Each capability builds toward the next, from understanding the data to supporting a real decision.</a:t>
            </a:r>
            <a:endParaRPr lang="en-US" sz="1350" dirty="0"/>
          </a:p>
        </p:txBody>
      </p:sp>
      <p:sp>
        <p:nvSpPr>
          <p:cNvPr id="5" name="Shape 3"/>
          <p:cNvSpPr/>
          <p:nvPr/>
        </p:nvSpPr>
        <p:spPr>
          <a:xfrm>
            <a:off x="594360" y="1737360"/>
            <a:ext cx="3545738" cy="457200"/>
          </a:xfrm>
          <a:prstGeom prst="chevron">
            <a:avLst/>
          </a:prstGeom>
          <a:solidFill>
            <a:srgbClr val="17788F"/>
          </a:solidFill>
          <a:ln/>
        </p:spPr>
      </p:sp>
      <p:sp>
        <p:nvSpPr>
          <p:cNvPr id="6" name="Text 4"/>
          <p:cNvSpPr/>
          <p:nvPr/>
        </p:nvSpPr>
        <p:spPr>
          <a:xfrm>
            <a:off x="1051560" y="1737360"/>
            <a:ext cx="2905658" cy="457200"/>
          </a:xfrm>
          <a:prstGeom prst="rect">
            <a:avLst/>
          </a:prstGeom>
          <a:noFill/>
          <a:ln/>
        </p:spPr>
        <p:txBody>
          <a:bodyPr wrap="square" lIns="0" tIns="0" rIns="0" bIns="0" rtlCol="0" anchor="ctr"/>
          <a:lstStyle/>
          <a:p>
            <a:pPr marL="0" indent="0" algn="l">
              <a:buNone/>
            </a:pPr>
            <a:r>
              <a:rPr lang="en-US" sz="1250" b="1" kern="0" spc="150" dirty="0">
                <a:solidFill>
                  <a:srgbClr val="FFFFFF"/>
                </a:solidFill>
                <a:latin typeface="Calibri" pitchFamily="34" charset="0"/>
                <a:ea typeface="Calibri" pitchFamily="34" charset="-122"/>
                <a:cs typeface="Calibri" pitchFamily="34" charset="-120"/>
              </a:rPr>
              <a:t>ANALYZE</a:t>
            </a:r>
            <a:endParaRPr lang="en-US" sz="1250" dirty="0"/>
          </a:p>
        </p:txBody>
      </p:sp>
      <p:sp>
        <p:nvSpPr>
          <p:cNvPr id="7" name="Text 5"/>
          <p:cNvSpPr/>
          <p:nvPr/>
        </p:nvSpPr>
        <p:spPr>
          <a:xfrm>
            <a:off x="1051560" y="2249424"/>
            <a:ext cx="2905658" cy="219456"/>
          </a:xfrm>
          <a:prstGeom prst="rect">
            <a:avLst/>
          </a:prstGeom>
          <a:noFill/>
          <a:ln/>
        </p:spPr>
        <p:txBody>
          <a:bodyPr wrap="square" lIns="0" tIns="0" rIns="0" bIns="0" rtlCol="0" anchor="t"/>
          <a:lstStyle/>
          <a:p>
            <a:pPr marL="0" indent="0" algn="l">
              <a:buNone/>
            </a:pPr>
            <a:r>
              <a:rPr lang="en-US" sz="900" kern="0" spc="30" dirty="0">
                <a:solidFill>
                  <a:srgbClr val="5F6A78"/>
                </a:solidFill>
                <a:latin typeface="Calibri" pitchFamily="34" charset="0"/>
                <a:ea typeface="Calibri" pitchFamily="34" charset="-122"/>
                <a:cs typeface="Calibri" pitchFamily="34" charset="-120"/>
              </a:rPr>
              <a:t>Understand the data</a:t>
            </a:r>
            <a:endParaRPr lang="en-US" sz="900" dirty="0"/>
          </a:p>
        </p:txBody>
      </p:sp>
      <p:sp>
        <p:nvSpPr>
          <p:cNvPr id="8" name="Shape 6"/>
          <p:cNvSpPr/>
          <p:nvPr/>
        </p:nvSpPr>
        <p:spPr>
          <a:xfrm>
            <a:off x="4322978" y="1737360"/>
            <a:ext cx="3545738" cy="457200"/>
          </a:xfrm>
          <a:prstGeom prst="chevron">
            <a:avLst/>
          </a:prstGeom>
          <a:solidFill>
            <a:srgbClr val="C68A38"/>
          </a:solidFill>
          <a:ln/>
        </p:spPr>
      </p:sp>
      <p:sp>
        <p:nvSpPr>
          <p:cNvPr id="9" name="Text 7"/>
          <p:cNvSpPr/>
          <p:nvPr/>
        </p:nvSpPr>
        <p:spPr>
          <a:xfrm>
            <a:off x="4780178" y="1737360"/>
            <a:ext cx="2905658" cy="457200"/>
          </a:xfrm>
          <a:prstGeom prst="rect">
            <a:avLst/>
          </a:prstGeom>
          <a:noFill/>
          <a:ln/>
        </p:spPr>
        <p:txBody>
          <a:bodyPr wrap="square" lIns="0" tIns="0" rIns="0" bIns="0" rtlCol="0" anchor="ctr"/>
          <a:lstStyle/>
          <a:p>
            <a:pPr marL="0" indent="0" algn="l">
              <a:buNone/>
            </a:pPr>
            <a:r>
              <a:rPr lang="en-US" sz="1250" b="1" kern="0" spc="150" dirty="0">
                <a:solidFill>
                  <a:srgbClr val="FFFFFF"/>
                </a:solidFill>
                <a:latin typeface="Calibri" pitchFamily="34" charset="0"/>
                <a:ea typeface="Calibri" pitchFamily="34" charset="-122"/>
                <a:cs typeface="Calibri" pitchFamily="34" charset="-120"/>
              </a:rPr>
              <a:t>PREDICT</a:t>
            </a:r>
            <a:endParaRPr lang="en-US" sz="1250" dirty="0"/>
          </a:p>
        </p:txBody>
      </p:sp>
      <p:sp>
        <p:nvSpPr>
          <p:cNvPr id="10" name="Text 8"/>
          <p:cNvSpPr/>
          <p:nvPr/>
        </p:nvSpPr>
        <p:spPr>
          <a:xfrm>
            <a:off x="4780178" y="2249424"/>
            <a:ext cx="2905658" cy="219456"/>
          </a:xfrm>
          <a:prstGeom prst="rect">
            <a:avLst/>
          </a:prstGeom>
          <a:noFill/>
          <a:ln/>
        </p:spPr>
        <p:txBody>
          <a:bodyPr wrap="square" lIns="0" tIns="0" rIns="0" bIns="0" rtlCol="0" anchor="t"/>
          <a:lstStyle/>
          <a:p>
            <a:pPr marL="0" indent="0" algn="l">
              <a:buNone/>
            </a:pPr>
            <a:r>
              <a:rPr lang="en-US" sz="900" kern="0" spc="30" dirty="0">
                <a:solidFill>
                  <a:srgbClr val="5F6A78"/>
                </a:solidFill>
                <a:latin typeface="Calibri" pitchFamily="34" charset="0"/>
                <a:ea typeface="Calibri" pitchFamily="34" charset="-122"/>
                <a:cs typeface="Calibri" pitchFamily="34" charset="-120"/>
              </a:rPr>
              <a:t>Forecast demand</a:t>
            </a:r>
            <a:endParaRPr lang="en-US" sz="900" dirty="0"/>
          </a:p>
        </p:txBody>
      </p:sp>
      <p:sp>
        <p:nvSpPr>
          <p:cNvPr id="11" name="Shape 9"/>
          <p:cNvSpPr/>
          <p:nvPr/>
        </p:nvSpPr>
        <p:spPr>
          <a:xfrm>
            <a:off x="8051597" y="1737360"/>
            <a:ext cx="3545738" cy="457200"/>
          </a:xfrm>
          <a:prstGeom prst="chevron">
            <a:avLst/>
          </a:prstGeom>
          <a:solidFill>
            <a:srgbClr val="505E92"/>
          </a:solidFill>
          <a:ln/>
        </p:spPr>
      </p:sp>
      <p:sp>
        <p:nvSpPr>
          <p:cNvPr id="12" name="Text 10"/>
          <p:cNvSpPr/>
          <p:nvPr/>
        </p:nvSpPr>
        <p:spPr>
          <a:xfrm>
            <a:off x="8508797" y="1737360"/>
            <a:ext cx="2905658" cy="457200"/>
          </a:xfrm>
          <a:prstGeom prst="rect">
            <a:avLst/>
          </a:prstGeom>
          <a:noFill/>
          <a:ln/>
        </p:spPr>
        <p:txBody>
          <a:bodyPr wrap="square" lIns="0" tIns="0" rIns="0" bIns="0" rtlCol="0" anchor="ctr"/>
          <a:lstStyle/>
          <a:p>
            <a:pPr marL="0" indent="0" algn="l">
              <a:buNone/>
            </a:pPr>
            <a:r>
              <a:rPr lang="en-US" sz="1250" b="1" kern="0" spc="150" dirty="0">
                <a:solidFill>
                  <a:srgbClr val="FFFFFF"/>
                </a:solidFill>
                <a:latin typeface="Calibri" pitchFamily="34" charset="0"/>
                <a:ea typeface="Calibri" pitchFamily="34" charset="-122"/>
                <a:cs typeface="Calibri" pitchFamily="34" charset="-120"/>
              </a:rPr>
              <a:t>DECIDE</a:t>
            </a:r>
            <a:endParaRPr lang="en-US" sz="1250" dirty="0"/>
          </a:p>
        </p:txBody>
      </p:sp>
      <p:sp>
        <p:nvSpPr>
          <p:cNvPr id="13" name="Text 11"/>
          <p:cNvSpPr/>
          <p:nvPr/>
        </p:nvSpPr>
        <p:spPr>
          <a:xfrm>
            <a:off x="8508797" y="2249424"/>
            <a:ext cx="2905658" cy="219456"/>
          </a:xfrm>
          <a:prstGeom prst="rect">
            <a:avLst/>
          </a:prstGeom>
          <a:noFill/>
          <a:ln/>
        </p:spPr>
        <p:txBody>
          <a:bodyPr wrap="square" lIns="0" tIns="0" rIns="0" bIns="0" rtlCol="0" anchor="t"/>
          <a:lstStyle/>
          <a:p>
            <a:pPr marL="0" indent="0" algn="l">
              <a:buNone/>
            </a:pPr>
            <a:r>
              <a:rPr lang="en-US" sz="900" kern="0" spc="30" dirty="0">
                <a:solidFill>
                  <a:srgbClr val="5F6A78"/>
                </a:solidFill>
                <a:latin typeface="Calibri" pitchFamily="34" charset="0"/>
                <a:ea typeface="Calibri" pitchFamily="34" charset="-122"/>
                <a:cs typeface="Calibri" pitchFamily="34" charset="-120"/>
              </a:rPr>
              <a:t>Support the call</a:t>
            </a:r>
            <a:endParaRPr lang="en-US" sz="900" dirty="0"/>
          </a:p>
        </p:txBody>
      </p:sp>
      <p:sp>
        <p:nvSpPr>
          <p:cNvPr id="14" name="Shape 12"/>
          <p:cNvSpPr/>
          <p:nvPr/>
        </p:nvSpPr>
        <p:spPr>
          <a:xfrm>
            <a:off x="594360" y="2651760"/>
            <a:ext cx="3484778" cy="1664208"/>
          </a:xfrm>
          <a:prstGeom prst="roundRect">
            <a:avLst>
              <a:gd name="adj" fmla="val 2747"/>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15" name="Text 13"/>
          <p:cNvSpPr/>
          <p:nvPr/>
        </p:nvSpPr>
        <p:spPr>
          <a:xfrm>
            <a:off x="850392" y="2834640"/>
            <a:ext cx="731520" cy="365760"/>
          </a:xfrm>
          <a:prstGeom prst="rect">
            <a:avLst/>
          </a:prstGeom>
          <a:noFill/>
          <a:ln/>
        </p:spPr>
        <p:txBody>
          <a:bodyPr wrap="square" lIns="0" tIns="0" rIns="0" bIns="0" rtlCol="0" anchor="t"/>
          <a:lstStyle/>
          <a:p>
            <a:pPr marL="0" indent="0" algn="l">
              <a:buNone/>
            </a:pPr>
            <a:r>
              <a:rPr lang="en-US" sz="1800" b="1" dirty="0">
                <a:solidFill>
                  <a:srgbClr val="17788F"/>
                </a:solidFill>
                <a:latin typeface="Cambria" pitchFamily="34" charset="0"/>
                <a:ea typeface="Cambria" pitchFamily="34" charset="-122"/>
                <a:cs typeface="Cambria" pitchFamily="34" charset="-120"/>
              </a:rPr>
              <a:t>01</a:t>
            </a:r>
            <a:endParaRPr lang="en-US" sz="1800" dirty="0"/>
          </a:p>
        </p:txBody>
      </p:sp>
      <p:sp>
        <p:nvSpPr>
          <p:cNvPr id="16" name="Shape 14"/>
          <p:cNvSpPr/>
          <p:nvPr/>
        </p:nvSpPr>
        <p:spPr>
          <a:xfrm>
            <a:off x="2771546" y="2889504"/>
            <a:ext cx="1051560" cy="237744"/>
          </a:xfrm>
          <a:prstGeom prst="roundRect">
            <a:avLst>
              <a:gd name="adj" fmla="val 50000"/>
            </a:avLst>
          </a:prstGeom>
          <a:solidFill>
            <a:srgbClr val="17788F"/>
          </a:solidFill>
          <a:ln/>
        </p:spPr>
      </p:sp>
      <p:sp>
        <p:nvSpPr>
          <p:cNvPr id="17" name="Text 15"/>
          <p:cNvSpPr/>
          <p:nvPr/>
        </p:nvSpPr>
        <p:spPr>
          <a:xfrm>
            <a:off x="2771546" y="2884932"/>
            <a:ext cx="105156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ANALYZE</a:t>
            </a:r>
            <a:endParaRPr lang="en-US" sz="850" dirty="0"/>
          </a:p>
        </p:txBody>
      </p:sp>
      <p:sp>
        <p:nvSpPr>
          <p:cNvPr id="18" name="Shape 16"/>
          <p:cNvSpPr/>
          <p:nvPr/>
        </p:nvSpPr>
        <p:spPr>
          <a:xfrm>
            <a:off x="841248" y="3310128"/>
            <a:ext cx="512064" cy="512064"/>
          </a:xfrm>
          <a:prstGeom prst="ellipse">
            <a:avLst/>
          </a:prstGeom>
          <a:solidFill>
            <a:srgbClr val="17788F"/>
          </a:solidFill>
          <a:ln/>
        </p:spPr>
      </p:sp>
      <p:pic>
        <p:nvPicPr>
          <p:cNvPr id="19" name="Image 0" descr="/home/claude/deck/icons/barchart.png"/>
          <p:cNvPicPr>
            <a:picLocks noChangeAspect="1"/>
          </p:cNvPicPr>
          <p:nvPr/>
        </p:nvPicPr>
        <p:blipFill>
          <a:blip r:embed="rId3"/>
          <a:stretch>
            <a:fillRect/>
          </a:stretch>
        </p:blipFill>
        <p:spPr>
          <a:xfrm>
            <a:off x="969264" y="3438144"/>
            <a:ext cx="256032" cy="256032"/>
          </a:xfrm>
          <a:prstGeom prst="rect">
            <a:avLst/>
          </a:prstGeom>
        </p:spPr>
      </p:pic>
      <p:sp>
        <p:nvSpPr>
          <p:cNvPr id="20" name="Text 17"/>
          <p:cNvSpPr/>
          <p:nvPr/>
        </p:nvSpPr>
        <p:spPr>
          <a:xfrm>
            <a:off x="1490472" y="3346704"/>
            <a:ext cx="2387498" cy="457200"/>
          </a:xfrm>
          <a:prstGeom prst="rect">
            <a:avLst/>
          </a:prstGeom>
          <a:noFill/>
          <a:ln/>
        </p:spPr>
        <p:txBody>
          <a:bodyPr wrap="square" lIns="0" tIns="0" rIns="0" bIns="0" rtlCol="0" anchor="ctr"/>
          <a:lstStyle/>
          <a:p>
            <a:pPr marL="0" indent="0" algn="l">
              <a:buNone/>
            </a:pPr>
            <a:r>
              <a:rPr lang="en-US" sz="1300" b="1" dirty="0">
                <a:solidFill>
                  <a:srgbClr val="1B2430"/>
                </a:solidFill>
                <a:latin typeface="Calibri" pitchFamily="34" charset="0"/>
                <a:ea typeface="Calibri" pitchFamily="34" charset="-122"/>
                <a:cs typeface="Calibri" pitchFamily="34" charset="-120"/>
              </a:rPr>
              <a:t>Sales Analysis</a:t>
            </a:r>
            <a:endParaRPr lang="en-US" sz="1300" dirty="0"/>
          </a:p>
        </p:txBody>
      </p:sp>
      <p:sp>
        <p:nvSpPr>
          <p:cNvPr id="21" name="Text 18"/>
          <p:cNvSpPr/>
          <p:nvPr/>
        </p:nvSpPr>
        <p:spPr>
          <a:xfrm>
            <a:off x="850392" y="3895344"/>
            <a:ext cx="2972714" cy="384048"/>
          </a:xfrm>
          <a:prstGeom prst="rect">
            <a:avLst/>
          </a:prstGeom>
          <a:noFill/>
          <a:ln/>
        </p:spPr>
        <p:txBody>
          <a:bodyPr wrap="square" lIns="0" tIns="0" rIns="0" bIns="0" rtlCol="0" anchor="t"/>
          <a:lstStyle/>
          <a:p>
            <a:pPr marL="0" indent="0" algn="l">
              <a:buNone/>
            </a:pPr>
            <a:r>
              <a:rPr lang="en-US" sz="1000" dirty="0">
                <a:solidFill>
                  <a:srgbClr val="5F6A78"/>
                </a:solidFill>
                <a:latin typeface="Calibri" pitchFamily="34" charset="0"/>
                <a:ea typeface="Calibri" pitchFamily="34" charset="-122"/>
                <a:cs typeface="Calibri" pitchFamily="34" charset="-120"/>
              </a:rPr>
              <a:t>Revenue and volume trends by item, day and hour.</a:t>
            </a:r>
            <a:endParaRPr lang="en-US" sz="1000" dirty="0"/>
          </a:p>
        </p:txBody>
      </p:sp>
      <p:sp>
        <p:nvSpPr>
          <p:cNvPr id="22" name="Shape 19"/>
          <p:cNvSpPr/>
          <p:nvPr/>
        </p:nvSpPr>
        <p:spPr>
          <a:xfrm>
            <a:off x="4353458" y="2651760"/>
            <a:ext cx="3484778" cy="1664208"/>
          </a:xfrm>
          <a:prstGeom prst="roundRect">
            <a:avLst>
              <a:gd name="adj" fmla="val 2747"/>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23" name="Text 20"/>
          <p:cNvSpPr/>
          <p:nvPr/>
        </p:nvSpPr>
        <p:spPr>
          <a:xfrm>
            <a:off x="4609490" y="2834640"/>
            <a:ext cx="731520" cy="365760"/>
          </a:xfrm>
          <a:prstGeom prst="rect">
            <a:avLst/>
          </a:prstGeom>
          <a:noFill/>
          <a:ln/>
        </p:spPr>
        <p:txBody>
          <a:bodyPr wrap="square" lIns="0" tIns="0" rIns="0" bIns="0" rtlCol="0" anchor="t"/>
          <a:lstStyle/>
          <a:p>
            <a:pPr marL="0" indent="0" algn="l">
              <a:buNone/>
            </a:pPr>
            <a:r>
              <a:rPr lang="en-US" sz="1800" b="1" dirty="0">
                <a:solidFill>
                  <a:srgbClr val="17788F"/>
                </a:solidFill>
                <a:latin typeface="Cambria" pitchFamily="34" charset="0"/>
                <a:ea typeface="Cambria" pitchFamily="34" charset="-122"/>
                <a:cs typeface="Cambria" pitchFamily="34" charset="-120"/>
              </a:rPr>
              <a:t>02</a:t>
            </a:r>
            <a:endParaRPr lang="en-US" sz="1800" dirty="0"/>
          </a:p>
        </p:txBody>
      </p:sp>
      <p:sp>
        <p:nvSpPr>
          <p:cNvPr id="24" name="Shape 21"/>
          <p:cNvSpPr/>
          <p:nvPr/>
        </p:nvSpPr>
        <p:spPr>
          <a:xfrm>
            <a:off x="6530645" y="2889504"/>
            <a:ext cx="1051560" cy="237744"/>
          </a:xfrm>
          <a:prstGeom prst="roundRect">
            <a:avLst>
              <a:gd name="adj" fmla="val 50000"/>
            </a:avLst>
          </a:prstGeom>
          <a:solidFill>
            <a:srgbClr val="17788F"/>
          </a:solidFill>
          <a:ln/>
        </p:spPr>
      </p:sp>
      <p:sp>
        <p:nvSpPr>
          <p:cNvPr id="25" name="Text 22"/>
          <p:cNvSpPr/>
          <p:nvPr/>
        </p:nvSpPr>
        <p:spPr>
          <a:xfrm>
            <a:off x="6530645" y="2884932"/>
            <a:ext cx="105156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ANALYZE</a:t>
            </a:r>
            <a:endParaRPr lang="en-US" sz="850" dirty="0"/>
          </a:p>
        </p:txBody>
      </p:sp>
      <p:sp>
        <p:nvSpPr>
          <p:cNvPr id="26" name="Shape 23"/>
          <p:cNvSpPr/>
          <p:nvPr/>
        </p:nvSpPr>
        <p:spPr>
          <a:xfrm>
            <a:off x="4600346" y="3310128"/>
            <a:ext cx="512064" cy="512064"/>
          </a:xfrm>
          <a:prstGeom prst="ellipse">
            <a:avLst/>
          </a:prstGeom>
          <a:solidFill>
            <a:srgbClr val="17788F"/>
          </a:solidFill>
          <a:ln/>
        </p:spPr>
      </p:sp>
      <p:pic>
        <p:nvPicPr>
          <p:cNvPr id="27" name="Image 1" descr="/home/claude/deck/icons/cart.png"/>
          <p:cNvPicPr>
            <a:picLocks noChangeAspect="1"/>
          </p:cNvPicPr>
          <p:nvPr/>
        </p:nvPicPr>
        <p:blipFill>
          <a:blip r:embed="rId4"/>
          <a:stretch>
            <a:fillRect/>
          </a:stretch>
        </p:blipFill>
        <p:spPr>
          <a:xfrm>
            <a:off x="4728362" y="3438144"/>
            <a:ext cx="256032" cy="256032"/>
          </a:xfrm>
          <a:prstGeom prst="rect">
            <a:avLst/>
          </a:prstGeom>
        </p:spPr>
      </p:pic>
      <p:sp>
        <p:nvSpPr>
          <p:cNvPr id="28" name="Text 24"/>
          <p:cNvSpPr/>
          <p:nvPr/>
        </p:nvSpPr>
        <p:spPr>
          <a:xfrm>
            <a:off x="5249570" y="3346704"/>
            <a:ext cx="2387498" cy="457200"/>
          </a:xfrm>
          <a:prstGeom prst="rect">
            <a:avLst/>
          </a:prstGeom>
          <a:noFill/>
          <a:ln/>
        </p:spPr>
        <p:txBody>
          <a:bodyPr wrap="square" lIns="0" tIns="0" rIns="0" bIns="0" rtlCol="0" anchor="ctr"/>
          <a:lstStyle/>
          <a:p>
            <a:pPr marL="0" indent="0" algn="l">
              <a:buNone/>
            </a:pPr>
            <a:r>
              <a:rPr lang="en-US" sz="1300" b="1" dirty="0">
                <a:solidFill>
                  <a:srgbClr val="1B2430"/>
                </a:solidFill>
                <a:latin typeface="Calibri" pitchFamily="34" charset="0"/>
                <a:ea typeface="Calibri" pitchFamily="34" charset="-122"/>
                <a:cs typeface="Calibri" pitchFamily="34" charset="-120"/>
              </a:rPr>
              <a:t>Customer Order Analysis</a:t>
            </a:r>
            <a:endParaRPr lang="en-US" sz="1300" dirty="0"/>
          </a:p>
        </p:txBody>
      </p:sp>
      <p:sp>
        <p:nvSpPr>
          <p:cNvPr id="29" name="Text 25"/>
          <p:cNvSpPr/>
          <p:nvPr/>
        </p:nvSpPr>
        <p:spPr>
          <a:xfrm>
            <a:off x="4609490" y="3895344"/>
            <a:ext cx="2972714" cy="384048"/>
          </a:xfrm>
          <a:prstGeom prst="rect">
            <a:avLst/>
          </a:prstGeom>
          <a:noFill/>
          <a:ln/>
        </p:spPr>
        <p:txBody>
          <a:bodyPr wrap="square" lIns="0" tIns="0" rIns="0" bIns="0" rtlCol="0" anchor="t"/>
          <a:lstStyle/>
          <a:p>
            <a:pPr marL="0" indent="0" algn="l">
              <a:buNone/>
            </a:pPr>
            <a:r>
              <a:rPr lang="en-US" sz="1000" dirty="0">
                <a:solidFill>
                  <a:srgbClr val="5F6A78"/>
                </a:solidFill>
                <a:latin typeface="Calibri" pitchFamily="34" charset="0"/>
                <a:ea typeface="Calibri" pitchFamily="34" charset="-122"/>
                <a:cs typeface="Calibri" pitchFamily="34" charset="-120"/>
              </a:rPr>
              <a:t>Top items, basket size and ordering behavior.</a:t>
            </a:r>
            <a:endParaRPr lang="en-US" sz="1000" dirty="0"/>
          </a:p>
        </p:txBody>
      </p:sp>
      <p:sp>
        <p:nvSpPr>
          <p:cNvPr id="30" name="Shape 26"/>
          <p:cNvSpPr/>
          <p:nvPr/>
        </p:nvSpPr>
        <p:spPr>
          <a:xfrm>
            <a:off x="8112557" y="2651760"/>
            <a:ext cx="3484778" cy="1664208"/>
          </a:xfrm>
          <a:prstGeom prst="roundRect">
            <a:avLst>
              <a:gd name="adj" fmla="val 2747"/>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31" name="Text 27"/>
          <p:cNvSpPr/>
          <p:nvPr/>
        </p:nvSpPr>
        <p:spPr>
          <a:xfrm>
            <a:off x="8368589" y="2834640"/>
            <a:ext cx="731520" cy="365760"/>
          </a:xfrm>
          <a:prstGeom prst="rect">
            <a:avLst/>
          </a:prstGeom>
          <a:noFill/>
          <a:ln/>
        </p:spPr>
        <p:txBody>
          <a:bodyPr wrap="square" lIns="0" tIns="0" rIns="0" bIns="0" rtlCol="0" anchor="t"/>
          <a:lstStyle/>
          <a:p>
            <a:pPr marL="0" indent="0" algn="l">
              <a:buNone/>
            </a:pPr>
            <a:r>
              <a:rPr lang="en-US" sz="1800" b="1" dirty="0">
                <a:solidFill>
                  <a:srgbClr val="17788F"/>
                </a:solidFill>
                <a:latin typeface="Cambria" pitchFamily="34" charset="0"/>
                <a:ea typeface="Cambria" pitchFamily="34" charset="-122"/>
                <a:cs typeface="Cambria" pitchFamily="34" charset="-120"/>
              </a:rPr>
              <a:t>03</a:t>
            </a:r>
            <a:endParaRPr lang="en-US" sz="1800" dirty="0"/>
          </a:p>
        </p:txBody>
      </p:sp>
      <p:sp>
        <p:nvSpPr>
          <p:cNvPr id="32" name="Shape 28"/>
          <p:cNvSpPr/>
          <p:nvPr/>
        </p:nvSpPr>
        <p:spPr>
          <a:xfrm>
            <a:off x="10289743" y="2889504"/>
            <a:ext cx="1051560" cy="237744"/>
          </a:xfrm>
          <a:prstGeom prst="roundRect">
            <a:avLst>
              <a:gd name="adj" fmla="val 50000"/>
            </a:avLst>
          </a:prstGeom>
          <a:solidFill>
            <a:srgbClr val="17788F"/>
          </a:solidFill>
          <a:ln/>
        </p:spPr>
      </p:sp>
      <p:sp>
        <p:nvSpPr>
          <p:cNvPr id="33" name="Text 29"/>
          <p:cNvSpPr/>
          <p:nvPr/>
        </p:nvSpPr>
        <p:spPr>
          <a:xfrm>
            <a:off x="10289743" y="2884932"/>
            <a:ext cx="105156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ANALYZE</a:t>
            </a:r>
            <a:endParaRPr lang="en-US" sz="850" dirty="0"/>
          </a:p>
        </p:txBody>
      </p:sp>
      <p:sp>
        <p:nvSpPr>
          <p:cNvPr id="34" name="Shape 30"/>
          <p:cNvSpPr/>
          <p:nvPr/>
        </p:nvSpPr>
        <p:spPr>
          <a:xfrm>
            <a:off x="8359445" y="3310128"/>
            <a:ext cx="512064" cy="512064"/>
          </a:xfrm>
          <a:prstGeom prst="ellipse">
            <a:avLst/>
          </a:prstGeom>
          <a:solidFill>
            <a:srgbClr val="17788F"/>
          </a:solidFill>
          <a:ln/>
        </p:spPr>
      </p:sp>
      <p:pic>
        <p:nvPicPr>
          <p:cNvPr id="35" name="Image 2" descr="/home/claude/deck/icons/search.png"/>
          <p:cNvPicPr>
            <a:picLocks noChangeAspect="1"/>
          </p:cNvPicPr>
          <p:nvPr/>
        </p:nvPicPr>
        <p:blipFill>
          <a:blip r:embed="rId5"/>
          <a:stretch>
            <a:fillRect/>
          </a:stretch>
        </p:blipFill>
        <p:spPr>
          <a:xfrm>
            <a:off x="8487461" y="3438144"/>
            <a:ext cx="256032" cy="256032"/>
          </a:xfrm>
          <a:prstGeom prst="rect">
            <a:avLst/>
          </a:prstGeom>
        </p:spPr>
      </p:pic>
      <p:sp>
        <p:nvSpPr>
          <p:cNvPr id="36" name="Text 31"/>
          <p:cNvSpPr/>
          <p:nvPr/>
        </p:nvSpPr>
        <p:spPr>
          <a:xfrm>
            <a:off x="9008669" y="3346704"/>
            <a:ext cx="2387498" cy="457200"/>
          </a:xfrm>
          <a:prstGeom prst="rect">
            <a:avLst/>
          </a:prstGeom>
          <a:noFill/>
          <a:ln/>
        </p:spPr>
        <p:txBody>
          <a:bodyPr wrap="square" lIns="0" tIns="0" rIns="0" bIns="0" rtlCol="0" anchor="ctr"/>
          <a:lstStyle/>
          <a:p>
            <a:pPr marL="0" indent="0" algn="l">
              <a:buNone/>
            </a:pPr>
            <a:r>
              <a:rPr lang="en-US" sz="1300" b="1" dirty="0">
                <a:solidFill>
                  <a:srgbClr val="1B2430"/>
                </a:solidFill>
                <a:latin typeface="Calibri" pitchFamily="34" charset="0"/>
                <a:ea typeface="Calibri" pitchFamily="34" charset="-122"/>
                <a:cs typeface="Calibri" pitchFamily="34" charset="-120"/>
              </a:rPr>
              <a:t>Exploratory Data Analysis</a:t>
            </a:r>
            <a:endParaRPr lang="en-US" sz="1300" dirty="0"/>
          </a:p>
        </p:txBody>
      </p:sp>
      <p:sp>
        <p:nvSpPr>
          <p:cNvPr id="37" name="Text 32"/>
          <p:cNvSpPr/>
          <p:nvPr/>
        </p:nvSpPr>
        <p:spPr>
          <a:xfrm>
            <a:off x="8368589" y="3895344"/>
            <a:ext cx="2972714" cy="384048"/>
          </a:xfrm>
          <a:prstGeom prst="rect">
            <a:avLst/>
          </a:prstGeom>
          <a:noFill/>
          <a:ln/>
        </p:spPr>
        <p:txBody>
          <a:bodyPr wrap="square" lIns="0" tIns="0" rIns="0" bIns="0" rtlCol="0" anchor="t"/>
          <a:lstStyle/>
          <a:p>
            <a:pPr marL="0" indent="0" algn="l">
              <a:buNone/>
            </a:pPr>
            <a:r>
              <a:rPr lang="en-US" sz="1000" dirty="0">
                <a:solidFill>
                  <a:srgbClr val="5F6A78"/>
                </a:solidFill>
                <a:latin typeface="Calibri" pitchFamily="34" charset="0"/>
                <a:ea typeface="Calibri" pitchFamily="34" charset="-122"/>
                <a:cs typeface="Calibri" pitchFamily="34" charset="-120"/>
              </a:rPr>
              <a:t>Distributions, seasonality, correlations, outliers.</a:t>
            </a:r>
            <a:endParaRPr lang="en-US" sz="1000" dirty="0"/>
          </a:p>
        </p:txBody>
      </p:sp>
      <p:sp>
        <p:nvSpPr>
          <p:cNvPr id="38" name="Shape 33"/>
          <p:cNvSpPr/>
          <p:nvPr/>
        </p:nvSpPr>
        <p:spPr>
          <a:xfrm>
            <a:off x="594360" y="4535424"/>
            <a:ext cx="3484778" cy="1664208"/>
          </a:xfrm>
          <a:prstGeom prst="roundRect">
            <a:avLst>
              <a:gd name="adj" fmla="val 2747"/>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39" name="Text 34"/>
          <p:cNvSpPr/>
          <p:nvPr/>
        </p:nvSpPr>
        <p:spPr>
          <a:xfrm>
            <a:off x="850392" y="4718304"/>
            <a:ext cx="731520" cy="365760"/>
          </a:xfrm>
          <a:prstGeom prst="rect">
            <a:avLst/>
          </a:prstGeom>
          <a:noFill/>
          <a:ln/>
        </p:spPr>
        <p:txBody>
          <a:bodyPr wrap="square" lIns="0" tIns="0" rIns="0" bIns="0" rtlCol="0" anchor="t"/>
          <a:lstStyle/>
          <a:p>
            <a:pPr marL="0" indent="0" algn="l">
              <a:buNone/>
            </a:pPr>
            <a:r>
              <a:rPr lang="en-US" sz="1800" b="1" dirty="0">
                <a:solidFill>
                  <a:srgbClr val="C68A38"/>
                </a:solidFill>
                <a:latin typeface="Cambria" pitchFamily="34" charset="0"/>
                <a:ea typeface="Cambria" pitchFamily="34" charset="-122"/>
                <a:cs typeface="Cambria" pitchFamily="34" charset="-120"/>
              </a:rPr>
              <a:t>04</a:t>
            </a:r>
            <a:endParaRPr lang="en-US" sz="1800" dirty="0"/>
          </a:p>
        </p:txBody>
      </p:sp>
      <p:sp>
        <p:nvSpPr>
          <p:cNvPr id="40" name="Shape 35"/>
          <p:cNvSpPr/>
          <p:nvPr/>
        </p:nvSpPr>
        <p:spPr>
          <a:xfrm>
            <a:off x="2771546" y="4773168"/>
            <a:ext cx="1051560" cy="237744"/>
          </a:xfrm>
          <a:prstGeom prst="roundRect">
            <a:avLst>
              <a:gd name="adj" fmla="val 50000"/>
            </a:avLst>
          </a:prstGeom>
          <a:solidFill>
            <a:srgbClr val="C68A38"/>
          </a:solidFill>
          <a:ln/>
        </p:spPr>
      </p:sp>
      <p:sp>
        <p:nvSpPr>
          <p:cNvPr id="41" name="Text 36"/>
          <p:cNvSpPr/>
          <p:nvPr/>
        </p:nvSpPr>
        <p:spPr>
          <a:xfrm>
            <a:off x="2771546" y="4768596"/>
            <a:ext cx="105156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PREDICT</a:t>
            </a:r>
            <a:endParaRPr lang="en-US" sz="850" dirty="0"/>
          </a:p>
        </p:txBody>
      </p:sp>
      <p:sp>
        <p:nvSpPr>
          <p:cNvPr id="42" name="Shape 37"/>
          <p:cNvSpPr/>
          <p:nvPr/>
        </p:nvSpPr>
        <p:spPr>
          <a:xfrm>
            <a:off x="841248" y="5193792"/>
            <a:ext cx="512064" cy="512064"/>
          </a:xfrm>
          <a:prstGeom prst="ellipse">
            <a:avLst/>
          </a:prstGeom>
          <a:solidFill>
            <a:srgbClr val="C68A38"/>
          </a:solidFill>
          <a:ln/>
        </p:spPr>
      </p:sp>
      <p:pic>
        <p:nvPicPr>
          <p:cNvPr id="43" name="Image 3" descr="/home/claude/deck/icons/trendingup.png"/>
          <p:cNvPicPr>
            <a:picLocks noChangeAspect="1"/>
          </p:cNvPicPr>
          <p:nvPr/>
        </p:nvPicPr>
        <p:blipFill>
          <a:blip r:embed="rId6"/>
          <a:stretch>
            <a:fillRect/>
          </a:stretch>
        </p:blipFill>
        <p:spPr>
          <a:xfrm>
            <a:off x="969264" y="5321808"/>
            <a:ext cx="256032" cy="256032"/>
          </a:xfrm>
          <a:prstGeom prst="rect">
            <a:avLst/>
          </a:prstGeom>
        </p:spPr>
      </p:pic>
      <p:sp>
        <p:nvSpPr>
          <p:cNvPr id="44" name="Text 38"/>
          <p:cNvSpPr/>
          <p:nvPr/>
        </p:nvSpPr>
        <p:spPr>
          <a:xfrm>
            <a:off x="1490472" y="5230368"/>
            <a:ext cx="2387498" cy="457200"/>
          </a:xfrm>
          <a:prstGeom prst="rect">
            <a:avLst/>
          </a:prstGeom>
          <a:noFill/>
          <a:ln/>
        </p:spPr>
        <p:txBody>
          <a:bodyPr wrap="square" lIns="0" tIns="0" rIns="0" bIns="0" rtlCol="0" anchor="ctr"/>
          <a:lstStyle/>
          <a:p>
            <a:pPr marL="0" indent="0" algn="l">
              <a:buNone/>
            </a:pPr>
            <a:r>
              <a:rPr lang="en-US" sz="1300" b="1" dirty="0">
                <a:solidFill>
                  <a:srgbClr val="1B2430"/>
                </a:solidFill>
                <a:latin typeface="Calibri" pitchFamily="34" charset="0"/>
                <a:ea typeface="Calibri" pitchFamily="34" charset="-122"/>
                <a:cs typeface="Calibri" pitchFamily="34" charset="-120"/>
              </a:rPr>
              <a:t>Food Demand Prediction</a:t>
            </a:r>
            <a:endParaRPr lang="en-US" sz="1300" dirty="0"/>
          </a:p>
        </p:txBody>
      </p:sp>
      <p:sp>
        <p:nvSpPr>
          <p:cNvPr id="45" name="Text 39"/>
          <p:cNvSpPr/>
          <p:nvPr/>
        </p:nvSpPr>
        <p:spPr>
          <a:xfrm>
            <a:off x="850392" y="5779008"/>
            <a:ext cx="2972714" cy="384048"/>
          </a:xfrm>
          <a:prstGeom prst="rect">
            <a:avLst/>
          </a:prstGeom>
          <a:noFill/>
          <a:ln/>
        </p:spPr>
        <p:txBody>
          <a:bodyPr wrap="square" lIns="0" tIns="0" rIns="0" bIns="0" rtlCol="0" anchor="t"/>
          <a:lstStyle/>
          <a:p>
            <a:pPr marL="0" indent="0" algn="l">
              <a:buNone/>
            </a:pPr>
            <a:r>
              <a:rPr lang="en-US" sz="1000" dirty="0">
                <a:solidFill>
                  <a:srgbClr val="5F6A78"/>
                </a:solidFill>
                <a:latin typeface="Calibri" pitchFamily="34" charset="0"/>
                <a:ea typeface="Calibri" pitchFamily="34" charset="-122"/>
                <a:cs typeface="Calibri" pitchFamily="34" charset="-120"/>
              </a:rPr>
              <a:t>Forecast item-level demand from sales history.</a:t>
            </a:r>
            <a:endParaRPr lang="en-US" sz="1000" dirty="0"/>
          </a:p>
        </p:txBody>
      </p:sp>
      <p:sp>
        <p:nvSpPr>
          <p:cNvPr id="46" name="Shape 40"/>
          <p:cNvSpPr/>
          <p:nvPr/>
        </p:nvSpPr>
        <p:spPr>
          <a:xfrm>
            <a:off x="4353458" y="4535424"/>
            <a:ext cx="3484778" cy="1664208"/>
          </a:xfrm>
          <a:prstGeom prst="roundRect">
            <a:avLst>
              <a:gd name="adj" fmla="val 2747"/>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47" name="Text 41"/>
          <p:cNvSpPr/>
          <p:nvPr/>
        </p:nvSpPr>
        <p:spPr>
          <a:xfrm>
            <a:off x="4609490" y="4718304"/>
            <a:ext cx="731520" cy="365760"/>
          </a:xfrm>
          <a:prstGeom prst="rect">
            <a:avLst/>
          </a:prstGeom>
          <a:noFill/>
          <a:ln/>
        </p:spPr>
        <p:txBody>
          <a:bodyPr wrap="square" lIns="0" tIns="0" rIns="0" bIns="0" rtlCol="0" anchor="t"/>
          <a:lstStyle/>
          <a:p>
            <a:pPr marL="0" indent="0" algn="l">
              <a:buNone/>
            </a:pPr>
            <a:r>
              <a:rPr lang="en-US" sz="1800" b="1" dirty="0">
                <a:solidFill>
                  <a:srgbClr val="C68A38"/>
                </a:solidFill>
                <a:latin typeface="Cambria" pitchFamily="34" charset="0"/>
                <a:ea typeface="Cambria" pitchFamily="34" charset="-122"/>
                <a:cs typeface="Cambria" pitchFamily="34" charset="-120"/>
              </a:rPr>
              <a:t>05</a:t>
            </a:r>
            <a:endParaRPr lang="en-US" sz="1800" dirty="0"/>
          </a:p>
        </p:txBody>
      </p:sp>
      <p:sp>
        <p:nvSpPr>
          <p:cNvPr id="48" name="Shape 42"/>
          <p:cNvSpPr/>
          <p:nvPr/>
        </p:nvSpPr>
        <p:spPr>
          <a:xfrm>
            <a:off x="6530645" y="4773168"/>
            <a:ext cx="1051560" cy="237744"/>
          </a:xfrm>
          <a:prstGeom prst="roundRect">
            <a:avLst>
              <a:gd name="adj" fmla="val 50000"/>
            </a:avLst>
          </a:prstGeom>
          <a:solidFill>
            <a:srgbClr val="C68A38"/>
          </a:solidFill>
          <a:ln/>
        </p:spPr>
      </p:sp>
      <p:sp>
        <p:nvSpPr>
          <p:cNvPr id="49" name="Text 43"/>
          <p:cNvSpPr/>
          <p:nvPr/>
        </p:nvSpPr>
        <p:spPr>
          <a:xfrm>
            <a:off x="6530645" y="4768596"/>
            <a:ext cx="105156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PREDICT</a:t>
            </a:r>
            <a:endParaRPr lang="en-US" sz="850" dirty="0"/>
          </a:p>
        </p:txBody>
      </p:sp>
      <p:sp>
        <p:nvSpPr>
          <p:cNvPr id="50" name="Shape 44"/>
          <p:cNvSpPr/>
          <p:nvPr/>
        </p:nvSpPr>
        <p:spPr>
          <a:xfrm>
            <a:off x="4600346" y="5193792"/>
            <a:ext cx="512064" cy="512064"/>
          </a:xfrm>
          <a:prstGeom prst="ellipse">
            <a:avLst/>
          </a:prstGeom>
          <a:solidFill>
            <a:srgbClr val="C68A38"/>
          </a:solidFill>
          <a:ln/>
        </p:spPr>
      </p:sp>
      <p:pic>
        <p:nvPicPr>
          <p:cNvPr id="51" name="Image 4" descr="/home/claude/deck/icons/gitmerge.png"/>
          <p:cNvPicPr>
            <a:picLocks noChangeAspect="1"/>
          </p:cNvPicPr>
          <p:nvPr/>
        </p:nvPicPr>
        <p:blipFill>
          <a:blip r:embed="rId7"/>
          <a:stretch>
            <a:fillRect/>
          </a:stretch>
        </p:blipFill>
        <p:spPr>
          <a:xfrm>
            <a:off x="4728362" y="5321808"/>
            <a:ext cx="256032" cy="256032"/>
          </a:xfrm>
          <a:prstGeom prst="rect">
            <a:avLst/>
          </a:prstGeom>
        </p:spPr>
      </p:pic>
      <p:sp>
        <p:nvSpPr>
          <p:cNvPr id="52" name="Text 45"/>
          <p:cNvSpPr/>
          <p:nvPr/>
        </p:nvSpPr>
        <p:spPr>
          <a:xfrm>
            <a:off x="5249570" y="5230368"/>
            <a:ext cx="2387498" cy="457200"/>
          </a:xfrm>
          <a:prstGeom prst="rect">
            <a:avLst/>
          </a:prstGeom>
          <a:noFill/>
          <a:ln/>
        </p:spPr>
        <p:txBody>
          <a:bodyPr wrap="square" lIns="0" tIns="0" rIns="0" bIns="0" rtlCol="0" anchor="ctr"/>
          <a:lstStyle/>
          <a:p>
            <a:pPr marL="0" indent="0" algn="l">
              <a:buNone/>
            </a:pPr>
            <a:r>
              <a:rPr lang="en-US" sz="1300" b="1" dirty="0">
                <a:solidFill>
                  <a:srgbClr val="1B2430"/>
                </a:solidFill>
                <a:latin typeface="Calibri" pitchFamily="34" charset="0"/>
                <a:ea typeface="Calibri" pitchFamily="34" charset="-122"/>
                <a:cs typeface="Calibri" pitchFamily="34" charset="-120"/>
              </a:rPr>
              <a:t>ML Model Comparison</a:t>
            </a:r>
            <a:endParaRPr lang="en-US" sz="1300" dirty="0"/>
          </a:p>
        </p:txBody>
      </p:sp>
      <p:sp>
        <p:nvSpPr>
          <p:cNvPr id="53" name="Text 46"/>
          <p:cNvSpPr/>
          <p:nvPr/>
        </p:nvSpPr>
        <p:spPr>
          <a:xfrm>
            <a:off x="4609490" y="5779008"/>
            <a:ext cx="2972714" cy="384048"/>
          </a:xfrm>
          <a:prstGeom prst="rect">
            <a:avLst/>
          </a:prstGeom>
          <a:noFill/>
          <a:ln/>
        </p:spPr>
        <p:txBody>
          <a:bodyPr wrap="square" lIns="0" tIns="0" rIns="0" bIns="0" rtlCol="0" anchor="t"/>
          <a:lstStyle/>
          <a:p>
            <a:pPr marL="0" indent="0" algn="l">
              <a:buNone/>
            </a:pPr>
            <a:r>
              <a:rPr lang="en-US" sz="1000" dirty="0">
                <a:solidFill>
                  <a:srgbClr val="5F6A78"/>
                </a:solidFill>
                <a:latin typeface="Calibri" pitchFamily="34" charset="0"/>
                <a:ea typeface="Calibri" pitchFamily="34" charset="-122"/>
                <a:cs typeface="Calibri" pitchFamily="34" charset="-120"/>
              </a:rPr>
              <a:t>Regression, Random Forest &amp; boosting, by RMSE.</a:t>
            </a:r>
            <a:endParaRPr lang="en-US" sz="1000" dirty="0"/>
          </a:p>
        </p:txBody>
      </p:sp>
      <p:sp>
        <p:nvSpPr>
          <p:cNvPr id="54" name="Shape 47"/>
          <p:cNvSpPr/>
          <p:nvPr/>
        </p:nvSpPr>
        <p:spPr>
          <a:xfrm>
            <a:off x="8112557" y="4535424"/>
            <a:ext cx="3484778" cy="1664208"/>
          </a:xfrm>
          <a:prstGeom prst="roundRect">
            <a:avLst>
              <a:gd name="adj" fmla="val 2747"/>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55" name="Text 48"/>
          <p:cNvSpPr/>
          <p:nvPr/>
        </p:nvSpPr>
        <p:spPr>
          <a:xfrm>
            <a:off x="8368589" y="4718304"/>
            <a:ext cx="731520" cy="365760"/>
          </a:xfrm>
          <a:prstGeom prst="rect">
            <a:avLst/>
          </a:prstGeom>
          <a:noFill/>
          <a:ln/>
        </p:spPr>
        <p:txBody>
          <a:bodyPr wrap="square" lIns="0" tIns="0" rIns="0" bIns="0" rtlCol="0" anchor="t"/>
          <a:lstStyle/>
          <a:p>
            <a:pPr marL="0" indent="0" algn="l">
              <a:buNone/>
            </a:pPr>
            <a:r>
              <a:rPr lang="en-US" sz="1800" b="1" dirty="0">
                <a:solidFill>
                  <a:srgbClr val="505E92"/>
                </a:solidFill>
                <a:latin typeface="Cambria" pitchFamily="34" charset="0"/>
                <a:ea typeface="Cambria" pitchFamily="34" charset="-122"/>
                <a:cs typeface="Cambria" pitchFamily="34" charset="-120"/>
              </a:rPr>
              <a:t>06</a:t>
            </a:r>
            <a:endParaRPr lang="en-US" sz="1800" dirty="0"/>
          </a:p>
        </p:txBody>
      </p:sp>
      <p:sp>
        <p:nvSpPr>
          <p:cNvPr id="56" name="Shape 49"/>
          <p:cNvSpPr/>
          <p:nvPr/>
        </p:nvSpPr>
        <p:spPr>
          <a:xfrm>
            <a:off x="10289743" y="4773168"/>
            <a:ext cx="1051560" cy="237744"/>
          </a:xfrm>
          <a:prstGeom prst="roundRect">
            <a:avLst>
              <a:gd name="adj" fmla="val 50000"/>
            </a:avLst>
          </a:prstGeom>
          <a:solidFill>
            <a:srgbClr val="505E92"/>
          </a:solidFill>
          <a:ln/>
        </p:spPr>
      </p:sp>
      <p:sp>
        <p:nvSpPr>
          <p:cNvPr id="57" name="Text 50"/>
          <p:cNvSpPr/>
          <p:nvPr/>
        </p:nvSpPr>
        <p:spPr>
          <a:xfrm>
            <a:off x="10289743" y="4768596"/>
            <a:ext cx="105156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DECIDE</a:t>
            </a:r>
            <a:endParaRPr lang="en-US" sz="850" dirty="0"/>
          </a:p>
        </p:txBody>
      </p:sp>
      <p:sp>
        <p:nvSpPr>
          <p:cNvPr id="58" name="Shape 51"/>
          <p:cNvSpPr/>
          <p:nvPr/>
        </p:nvSpPr>
        <p:spPr>
          <a:xfrm>
            <a:off x="8359445" y="5193792"/>
            <a:ext cx="512064" cy="512064"/>
          </a:xfrm>
          <a:prstGeom prst="ellipse">
            <a:avLst/>
          </a:prstGeom>
          <a:solidFill>
            <a:srgbClr val="505E92"/>
          </a:solidFill>
          <a:ln/>
        </p:spPr>
      </p:sp>
      <p:pic>
        <p:nvPicPr>
          <p:cNvPr id="59" name="Image 5" descr="/home/claude/deck/icons/sliders.png"/>
          <p:cNvPicPr>
            <a:picLocks noChangeAspect="1"/>
          </p:cNvPicPr>
          <p:nvPr/>
        </p:nvPicPr>
        <p:blipFill>
          <a:blip r:embed="rId8"/>
          <a:stretch>
            <a:fillRect/>
          </a:stretch>
        </p:blipFill>
        <p:spPr>
          <a:xfrm>
            <a:off x="8487461" y="5321808"/>
            <a:ext cx="256032" cy="256032"/>
          </a:xfrm>
          <a:prstGeom prst="rect">
            <a:avLst/>
          </a:prstGeom>
        </p:spPr>
      </p:pic>
      <p:sp>
        <p:nvSpPr>
          <p:cNvPr id="60" name="Text 52"/>
          <p:cNvSpPr/>
          <p:nvPr/>
        </p:nvSpPr>
        <p:spPr>
          <a:xfrm>
            <a:off x="9008669" y="5230368"/>
            <a:ext cx="2387498" cy="457200"/>
          </a:xfrm>
          <a:prstGeom prst="rect">
            <a:avLst/>
          </a:prstGeom>
          <a:noFill/>
          <a:ln/>
        </p:spPr>
        <p:txBody>
          <a:bodyPr wrap="square" lIns="0" tIns="0" rIns="0" bIns="0" rtlCol="0" anchor="ctr"/>
          <a:lstStyle/>
          <a:p>
            <a:pPr marL="0" indent="0" algn="l">
              <a:buNone/>
            </a:pPr>
            <a:r>
              <a:rPr lang="en-US" sz="1300" b="1" dirty="0">
                <a:solidFill>
                  <a:srgbClr val="1B2430"/>
                </a:solidFill>
                <a:latin typeface="Calibri" pitchFamily="34" charset="0"/>
                <a:ea typeface="Calibri" pitchFamily="34" charset="-122"/>
                <a:cs typeface="Calibri" pitchFamily="34" charset="-120"/>
              </a:rPr>
              <a:t>R Shiny Decision Dashboard</a:t>
            </a:r>
            <a:endParaRPr lang="en-US" sz="1300" dirty="0"/>
          </a:p>
        </p:txBody>
      </p:sp>
      <p:sp>
        <p:nvSpPr>
          <p:cNvPr id="61" name="Text 53"/>
          <p:cNvSpPr/>
          <p:nvPr/>
        </p:nvSpPr>
        <p:spPr>
          <a:xfrm>
            <a:off x="8368589" y="5779008"/>
            <a:ext cx="2972714" cy="384048"/>
          </a:xfrm>
          <a:prstGeom prst="rect">
            <a:avLst/>
          </a:prstGeom>
          <a:noFill/>
          <a:ln/>
        </p:spPr>
        <p:txBody>
          <a:bodyPr wrap="square" lIns="0" tIns="0" rIns="0" bIns="0" rtlCol="0" anchor="t"/>
          <a:lstStyle/>
          <a:p>
            <a:pPr marL="0" indent="0" algn="l">
              <a:buNone/>
            </a:pPr>
            <a:r>
              <a:rPr lang="en-US" sz="1000" dirty="0">
                <a:solidFill>
                  <a:srgbClr val="5F6A78"/>
                </a:solidFill>
                <a:latin typeface="Calibri" pitchFamily="34" charset="0"/>
                <a:ea typeface="Calibri" pitchFamily="34" charset="-122"/>
                <a:cs typeface="Calibri" pitchFamily="34" charset="-120"/>
              </a:rPr>
              <a:t>Insights, forecasts and results in one tool.</a:t>
            </a:r>
            <a:endParaRPr lang="en-US" sz="1000" dirty="0"/>
          </a:p>
        </p:txBody>
      </p:sp>
      <p:sp>
        <p:nvSpPr>
          <p:cNvPr id="62" name="Shape 54"/>
          <p:cNvSpPr/>
          <p:nvPr/>
        </p:nvSpPr>
        <p:spPr>
          <a:xfrm>
            <a:off x="594360" y="6327648"/>
            <a:ext cx="11002975" cy="0"/>
          </a:xfrm>
          <a:prstGeom prst="line">
            <a:avLst/>
          </a:prstGeom>
          <a:noFill/>
          <a:ln w="9525">
            <a:solidFill>
              <a:srgbClr val="E5E9EF"/>
            </a:solidFill>
            <a:prstDash val="solid"/>
          </a:ln>
        </p:spPr>
      </p:sp>
      <p:sp>
        <p:nvSpPr>
          <p:cNvPr id="63" name="Text 55"/>
          <p:cNvSpPr/>
          <p:nvPr/>
        </p:nvSpPr>
        <p:spPr>
          <a:xfrm>
            <a:off x="594360" y="6400800"/>
            <a:ext cx="7772400" cy="274320"/>
          </a:xfrm>
          <a:prstGeom prst="rect">
            <a:avLst/>
          </a:prstGeom>
          <a:noFill/>
          <a:ln/>
        </p:spPr>
        <p:txBody>
          <a:bodyPr wrap="square" lIns="0" tIns="0" rIns="0" bIns="0" rtlCol="0" anchor="t"/>
          <a:lstStyle/>
          <a:p>
            <a:pPr marL="0" indent="0" algn="l">
              <a:buNone/>
            </a:pPr>
            <a:r>
              <a:rPr lang="en-US" sz="850" kern="0" spc="50" dirty="0">
                <a:solidFill>
                  <a:srgbClr val="93A0AD"/>
                </a:solidFill>
                <a:latin typeface="Calibri" pitchFamily="34" charset="0"/>
                <a:ea typeface="Calibri" pitchFamily="34" charset="-122"/>
                <a:cs typeface="Calibri" pitchFamily="34" charset="-120"/>
              </a:rPr>
              <a:t>Restaurant Sales Analytics &amp; Demand Prediction</a:t>
            </a:r>
            <a:endParaRPr lang="en-US" sz="850" dirty="0"/>
          </a:p>
        </p:txBody>
      </p:sp>
      <p:sp>
        <p:nvSpPr>
          <p:cNvPr id="64" name="Text 56"/>
          <p:cNvSpPr/>
          <p:nvPr/>
        </p:nvSpPr>
        <p:spPr>
          <a:xfrm>
            <a:off x="6110935" y="6400800"/>
            <a:ext cx="4937760" cy="274320"/>
          </a:xfrm>
          <a:prstGeom prst="rect">
            <a:avLst/>
          </a:prstGeom>
          <a:noFill/>
          <a:ln/>
        </p:spPr>
        <p:txBody>
          <a:bodyPr wrap="square" lIns="0" tIns="0" rIns="0" bIns="0" rtlCol="0" anchor="t"/>
          <a:lstStyle/>
          <a:p>
            <a:pPr marL="0" indent="0" algn="r">
              <a:buNone/>
            </a:pPr>
            <a:endParaRPr lang="en-US" sz="850" dirty="0"/>
          </a:p>
        </p:txBody>
      </p:sp>
      <p:sp>
        <p:nvSpPr>
          <p:cNvPr id="65" name="Text 57"/>
          <p:cNvSpPr/>
          <p:nvPr/>
        </p:nvSpPr>
        <p:spPr>
          <a:xfrm>
            <a:off x="11048695" y="6400800"/>
            <a:ext cx="548640" cy="274320"/>
          </a:xfrm>
          <a:prstGeom prst="rect">
            <a:avLst/>
          </a:prstGeom>
          <a:noFill/>
          <a:ln/>
        </p:spPr>
        <p:txBody>
          <a:bodyPr wrap="square" lIns="0" tIns="0" rIns="0" bIns="0" rtlCol="0" anchor="t"/>
          <a:lstStyle/>
          <a:p>
            <a:pPr marL="0" indent="0" algn="r">
              <a:buNone/>
            </a:pPr>
            <a:r>
              <a:rPr lang="en-US" sz="850" b="1" dirty="0">
                <a:solidFill>
                  <a:srgbClr val="5F6A78"/>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t"/>
          <a:lstStyle/>
          <a:p>
            <a:pPr marL="0" indent="0" algn="l">
              <a:buNone/>
            </a:pPr>
            <a:r>
              <a:rPr lang="en-US" sz="1100" b="1" kern="0" spc="200" dirty="0">
                <a:solidFill>
                  <a:srgbClr val="17788F"/>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594360" y="749808"/>
            <a:ext cx="11002975" cy="603504"/>
          </a:xfrm>
          <a:prstGeom prst="rect">
            <a:avLst/>
          </a:prstGeom>
          <a:noFill/>
          <a:ln/>
        </p:spPr>
        <p:txBody>
          <a:bodyPr wrap="square" lIns="0" tIns="0" rIns="0" bIns="0" rtlCol="0" anchor="t"/>
          <a:lstStyle/>
          <a:p>
            <a:pPr marL="0" indent="0" algn="l">
              <a:buNone/>
            </a:pPr>
            <a:r>
              <a:rPr lang="en-US" sz="2700" b="1" dirty="0">
                <a:solidFill>
                  <a:srgbClr val="1B2430"/>
                </a:solidFill>
                <a:latin typeface="Cambria" pitchFamily="34" charset="0"/>
                <a:ea typeface="Cambria" pitchFamily="34" charset="-122"/>
                <a:cs typeface="Cambria" pitchFamily="34" charset="-120"/>
              </a:rPr>
              <a:t>An integrated analytics ecosystem, from raw data to decision support</a:t>
            </a:r>
            <a:endParaRPr lang="en-US" sz="2700" dirty="0"/>
          </a:p>
        </p:txBody>
      </p:sp>
      <p:sp>
        <p:nvSpPr>
          <p:cNvPr id="4" name="Shape 2"/>
          <p:cNvSpPr/>
          <p:nvPr/>
        </p:nvSpPr>
        <p:spPr>
          <a:xfrm>
            <a:off x="594360" y="1691640"/>
            <a:ext cx="2606040" cy="4297680"/>
          </a:xfrm>
          <a:prstGeom prst="roundRect">
            <a:avLst>
              <a:gd name="adj" fmla="val 2105"/>
            </a:avLst>
          </a:prstGeom>
          <a:solidFill>
            <a:srgbClr val="FFFFFF"/>
          </a:solidFill>
          <a:ln w="15875">
            <a:solidFill>
              <a:srgbClr val="E5E9EF"/>
            </a:solidFill>
            <a:prstDash val="solid"/>
          </a:ln>
        </p:spPr>
      </p:sp>
      <p:sp>
        <p:nvSpPr>
          <p:cNvPr id="5" name="Shape 3"/>
          <p:cNvSpPr/>
          <p:nvPr/>
        </p:nvSpPr>
        <p:spPr>
          <a:xfrm>
            <a:off x="804672" y="1901952"/>
            <a:ext cx="457200" cy="457200"/>
          </a:xfrm>
          <a:prstGeom prst="ellipse">
            <a:avLst/>
          </a:prstGeom>
          <a:solidFill>
            <a:srgbClr val="142A4C"/>
          </a:solidFill>
          <a:ln/>
        </p:spPr>
      </p:sp>
      <p:pic>
        <p:nvPicPr>
          <p:cNvPr id="6" name="Image 0" descr="/home/claude/deck/icons/database.png"/>
          <p:cNvPicPr>
            <a:picLocks noChangeAspect="1"/>
          </p:cNvPicPr>
          <p:nvPr/>
        </p:nvPicPr>
        <p:blipFill>
          <a:blip r:embed="rId3"/>
          <a:stretch>
            <a:fillRect/>
          </a:stretch>
        </p:blipFill>
        <p:spPr>
          <a:xfrm>
            <a:off x="918972" y="2016252"/>
            <a:ext cx="228600" cy="228600"/>
          </a:xfrm>
          <a:prstGeom prst="rect">
            <a:avLst/>
          </a:prstGeom>
        </p:spPr>
      </p:pic>
      <p:sp>
        <p:nvSpPr>
          <p:cNvPr id="7" name="Text 4"/>
          <p:cNvSpPr/>
          <p:nvPr/>
        </p:nvSpPr>
        <p:spPr>
          <a:xfrm>
            <a:off x="1371600" y="1947672"/>
            <a:ext cx="1691640" cy="365760"/>
          </a:xfrm>
          <a:prstGeom prst="rect">
            <a:avLst/>
          </a:prstGeom>
          <a:noFill/>
          <a:ln/>
        </p:spPr>
        <p:txBody>
          <a:bodyPr wrap="square" lIns="0" tIns="0" rIns="0" bIns="0" rtlCol="0" anchor="t"/>
          <a:lstStyle/>
          <a:p>
            <a:pPr marL="0" indent="0" algn="l">
              <a:buNone/>
            </a:pPr>
            <a:r>
              <a:rPr lang="en-US" sz="1250" b="1" kern="0" spc="50" dirty="0">
                <a:solidFill>
                  <a:srgbClr val="142A4C"/>
                </a:solidFill>
                <a:latin typeface="Calibri" pitchFamily="34" charset="0"/>
                <a:ea typeface="Calibri" pitchFamily="34" charset="-122"/>
                <a:cs typeface="Calibri" pitchFamily="34" charset="-120"/>
              </a:rPr>
              <a:t>RESTAURANT DATA</a:t>
            </a:r>
            <a:endParaRPr lang="en-US" sz="1250" dirty="0"/>
          </a:p>
        </p:txBody>
      </p:sp>
      <p:sp>
        <p:nvSpPr>
          <p:cNvPr id="8" name="Shape 5"/>
          <p:cNvSpPr/>
          <p:nvPr/>
        </p:nvSpPr>
        <p:spPr>
          <a:xfrm>
            <a:off x="822960" y="2624328"/>
            <a:ext cx="1001268" cy="603504"/>
          </a:xfrm>
          <a:prstGeom prst="roundRect">
            <a:avLst>
              <a:gd name="adj" fmla="val 7576"/>
            </a:avLst>
          </a:prstGeom>
          <a:solidFill>
            <a:srgbClr val="FFFFFF"/>
          </a:solidFill>
          <a:ln w="9525">
            <a:solidFill>
              <a:srgbClr val="142A4C"/>
            </a:solidFill>
            <a:prstDash val="solid"/>
          </a:ln>
        </p:spPr>
      </p:sp>
      <p:sp>
        <p:nvSpPr>
          <p:cNvPr id="9" name="Text 6"/>
          <p:cNvSpPr/>
          <p:nvPr/>
        </p:nvSpPr>
        <p:spPr>
          <a:xfrm>
            <a:off x="822960" y="262432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Sales</a:t>
            </a:r>
            <a:endParaRPr lang="en-US" sz="1100" dirty="0"/>
          </a:p>
        </p:txBody>
      </p:sp>
      <p:sp>
        <p:nvSpPr>
          <p:cNvPr id="10" name="Shape 7"/>
          <p:cNvSpPr/>
          <p:nvPr/>
        </p:nvSpPr>
        <p:spPr>
          <a:xfrm>
            <a:off x="1970532" y="2624328"/>
            <a:ext cx="1001268" cy="603504"/>
          </a:xfrm>
          <a:prstGeom prst="roundRect">
            <a:avLst>
              <a:gd name="adj" fmla="val 7576"/>
            </a:avLst>
          </a:prstGeom>
          <a:solidFill>
            <a:srgbClr val="FFFFFF"/>
          </a:solidFill>
          <a:ln w="9525">
            <a:solidFill>
              <a:srgbClr val="142A4C"/>
            </a:solidFill>
            <a:prstDash val="solid"/>
          </a:ln>
        </p:spPr>
      </p:sp>
      <p:sp>
        <p:nvSpPr>
          <p:cNvPr id="11" name="Text 8"/>
          <p:cNvSpPr/>
          <p:nvPr/>
        </p:nvSpPr>
        <p:spPr>
          <a:xfrm>
            <a:off x="1970532" y="262432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Orders</a:t>
            </a:r>
            <a:endParaRPr lang="en-US" sz="1100" dirty="0"/>
          </a:p>
        </p:txBody>
      </p:sp>
      <p:sp>
        <p:nvSpPr>
          <p:cNvPr id="12" name="Shape 9"/>
          <p:cNvSpPr/>
          <p:nvPr/>
        </p:nvSpPr>
        <p:spPr>
          <a:xfrm>
            <a:off x="822960" y="3355848"/>
            <a:ext cx="1001268" cy="603504"/>
          </a:xfrm>
          <a:prstGeom prst="roundRect">
            <a:avLst>
              <a:gd name="adj" fmla="val 7576"/>
            </a:avLst>
          </a:prstGeom>
          <a:solidFill>
            <a:srgbClr val="FFFFFF"/>
          </a:solidFill>
          <a:ln w="9525">
            <a:solidFill>
              <a:srgbClr val="142A4C"/>
            </a:solidFill>
            <a:prstDash val="solid"/>
          </a:ln>
        </p:spPr>
      </p:sp>
      <p:sp>
        <p:nvSpPr>
          <p:cNvPr id="13" name="Text 10"/>
          <p:cNvSpPr/>
          <p:nvPr/>
        </p:nvSpPr>
        <p:spPr>
          <a:xfrm>
            <a:off x="822960" y="335584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Food Items</a:t>
            </a:r>
            <a:endParaRPr lang="en-US" sz="1100" dirty="0"/>
          </a:p>
        </p:txBody>
      </p:sp>
      <p:sp>
        <p:nvSpPr>
          <p:cNvPr id="14" name="Shape 11"/>
          <p:cNvSpPr/>
          <p:nvPr/>
        </p:nvSpPr>
        <p:spPr>
          <a:xfrm>
            <a:off x="1970532" y="3355848"/>
            <a:ext cx="1001268" cy="603504"/>
          </a:xfrm>
          <a:prstGeom prst="roundRect">
            <a:avLst>
              <a:gd name="adj" fmla="val 7576"/>
            </a:avLst>
          </a:prstGeom>
          <a:solidFill>
            <a:srgbClr val="FFFFFF"/>
          </a:solidFill>
          <a:ln w="9525">
            <a:solidFill>
              <a:srgbClr val="142A4C"/>
            </a:solidFill>
            <a:prstDash val="solid"/>
          </a:ln>
        </p:spPr>
      </p:sp>
      <p:sp>
        <p:nvSpPr>
          <p:cNvPr id="15" name="Text 12"/>
          <p:cNvSpPr/>
          <p:nvPr/>
        </p:nvSpPr>
        <p:spPr>
          <a:xfrm>
            <a:off x="1970532" y="335584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Quantity</a:t>
            </a:r>
            <a:endParaRPr lang="en-US" sz="1100" dirty="0"/>
          </a:p>
        </p:txBody>
      </p:sp>
      <p:sp>
        <p:nvSpPr>
          <p:cNvPr id="16" name="Shape 13"/>
          <p:cNvSpPr/>
          <p:nvPr/>
        </p:nvSpPr>
        <p:spPr>
          <a:xfrm>
            <a:off x="822960" y="4087368"/>
            <a:ext cx="1001268" cy="603504"/>
          </a:xfrm>
          <a:prstGeom prst="roundRect">
            <a:avLst>
              <a:gd name="adj" fmla="val 7576"/>
            </a:avLst>
          </a:prstGeom>
          <a:solidFill>
            <a:srgbClr val="FFFFFF"/>
          </a:solidFill>
          <a:ln w="9525">
            <a:solidFill>
              <a:srgbClr val="142A4C"/>
            </a:solidFill>
            <a:prstDash val="solid"/>
          </a:ln>
        </p:spPr>
      </p:sp>
      <p:sp>
        <p:nvSpPr>
          <p:cNvPr id="17" name="Text 14"/>
          <p:cNvSpPr/>
          <p:nvPr/>
        </p:nvSpPr>
        <p:spPr>
          <a:xfrm>
            <a:off x="822960" y="408736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Price</a:t>
            </a:r>
            <a:endParaRPr lang="en-US" sz="1100" dirty="0"/>
          </a:p>
        </p:txBody>
      </p:sp>
      <p:sp>
        <p:nvSpPr>
          <p:cNvPr id="18" name="Shape 15"/>
          <p:cNvSpPr/>
          <p:nvPr/>
        </p:nvSpPr>
        <p:spPr>
          <a:xfrm>
            <a:off x="1970532" y="4087368"/>
            <a:ext cx="1001268" cy="603504"/>
          </a:xfrm>
          <a:prstGeom prst="roundRect">
            <a:avLst>
              <a:gd name="adj" fmla="val 7576"/>
            </a:avLst>
          </a:prstGeom>
          <a:solidFill>
            <a:srgbClr val="FFFFFF"/>
          </a:solidFill>
          <a:ln w="9525">
            <a:solidFill>
              <a:srgbClr val="142A4C"/>
            </a:solidFill>
            <a:prstDash val="solid"/>
          </a:ln>
        </p:spPr>
      </p:sp>
      <p:sp>
        <p:nvSpPr>
          <p:cNvPr id="19" name="Text 16"/>
          <p:cNvSpPr/>
          <p:nvPr/>
        </p:nvSpPr>
        <p:spPr>
          <a:xfrm>
            <a:off x="1970532" y="408736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Time</a:t>
            </a:r>
            <a:endParaRPr lang="en-US" sz="1100" dirty="0"/>
          </a:p>
        </p:txBody>
      </p:sp>
      <p:sp>
        <p:nvSpPr>
          <p:cNvPr id="20" name="Shape 17"/>
          <p:cNvSpPr/>
          <p:nvPr/>
        </p:nvSpPr>
        <p:spPr>
          <a:xfrm>
            <a:off x="822960" y="4818888"/>
            <a:ext cx="1001268" cy="603504"/>
          </a:xfrm>
          <a:prstGeom prst="roundRect">
            <a:avLst>
              <a:gd name="adj" fmla="val 7576"/>
            </a:avLst>
          </a:prstGeom>
          <a:solidFill>
            <a:srgbClr val="FFFFFF"/>
          </a:solidFill>
          <a:ln w="9525">
            <a:solidFill>
              <a:srgbClr val="142A4C"/>
            </a:solidFill>
            <a:prstDash val="solid"/>
          </a:ln>
        </p:spPr>
      </p:sp>
      <p:sp>
        <p:nvSpPr>
          <p:cNvPr id="21" name="Text 18"/>
          <p:cNvSpPr/>
          <p:nvPr/>
        </p:nvSpPr>
        <p:spPr>
          <a:xfrm>
            <a:off x="822960" y="481888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Payment</a:t>
            </a:r>
            <a:endParaRPr lang="en-US" sz="1100" dirty="0"/>
          </a:p>
        </p:txBody>
      </p:sp>
      <p:sp>
        <p:nvSpPr>
          <p:cNvPr id="22" name="Shape 19"/>
          <p:cNvSpPr/>
          <p:nvPr/>
        </p:nvSpPr>
        <p:spPr>
          <a:xfrm>
            <a:off x="1970532" y="4818888"/>
            <a:ext cx="1001268" cy="603504"/>
          </a:xfrm>
          <a:prstGeom prst="roundRect">
            <a:avLst>
              <a:gd name="adj" fmla="val 7576"/>
            </a:avLst>
          </a:prstGeom>
          <a:solidFill>
            <a:srgbClr val="FFFFFF"/>
          </a:solidFill>
          <a:ln w="9525">
            <a:solidFill>
              <a:srgbClr val="142A4C"/>
            </a:solidFill>
            <a:prstDash val="solid"/>
          </a:ln>
        </p:spPr>
      </p:sp>
      <p:sp>
        <p:nvSpPr>
          <p:cNvPr id="23" name="Text 20"/>
          <p:cNvSpPr/>
          <p:nvPr/>
        </p:nvSpPr>
        <p:spPr>
          <a:xfrm>
            <a:off x="1970532" y="4818888"/>
            <a:ext cx="1001268" cy="603504"/>
          </a:xfrm>
          <a:prstGeom prst="rect">
            <a:avLst/>
          </a:prstGeom>
          <a:noFill/>
          <a:ln/>
        </p:spPr>
        <p:txBody>
          <a:bodyPr wrap="square" lIns="0" tIns="0" rIns="0" bIns="0" rtlCol="0" anchor="ctr"/>
          <a:lstStyle/>
          <a:p>
            <a:pPr marL="0" indent="0" algn="ctr">
              <a:buNone/>
            </a:pPr>
            <a:r>
              <a:rPr lang="en-US" sz="1100" b="1" dirty="0">
                <a:solidFill>
                  <a:srgbClr val="142A4C"/>
                </a:solidFill>
                <a:latin typeface="Calibri" pitchFamily="34" charset="0"/>
                <a:ea typeface="Calibri" pitchFamily="34" charset="-122"/>
                <a:cs typeface="Calibri" pitchFamily="34" charset="-120"/>
              </a:rPr>
              <a:t>Inventory</a:t>
            </a:r>
            <a:endParaRPr lang="en-US" sz="1100" dirty="0"/>
          </a:p>
        </p:txBody>
      </p:sp>
      <p:sp>
        <p:nvSpPr>
          <p:cNvPr id="24" name="Text 21"/>
          <p:cNvSpPr/>
          <p:nvPr/>
        </p:nvSpPr>
        <p:spPr>
          <a:xfrm>
            <a:off x="822960" y="5605272"/>
            <a:ext cx="2148840" cy="256032"/>
          </a:xfrm>
          <a:prstGeom prst="rect">
            <a:avLst/>
          </a:prstGeom>
          <a:noFill/>
          <a:ln/>
        </p:spPr>
        <p:txBody>
          <a:bodyPr wrap="square" lIns="0" tIns="0" rIns="0" bIns="0" rtlCol="0" anchor="t"/>
          <a:lstStyle/>
          <a:p>
            <a:pPr marL="0" indent="0" algn="ctr">
              <a:buNone/>
            </a:pPr>
            <a:r>
              <a:rPr lang="en-US" sz="850" b="1" kern="0" spc="50" dirty="0">
                <a:solidFill>
                  <a:srgbClr val="5F6A78"/>
                </a:solidFill>
                <a:latin typeface="Calibri" pitchFamily="34" charset="0"/>
                <a:ea typeface="Calibri" pitchFamily="34" charset="-122"/>
                <a:cs typeface="Calibri" pitchFamily="34" charset="-120"/>
              </a:rPr>
              <a:t>R  ·  readr · dplyr · lubridate</a:t>
            </a:r>
            <a:endParaRPr lang="en-US" sz="850" dirty="0"/>
          </a:p>
        </p:txBody>
      </p:sp>
      <p:sp>
        <p:nvSpPr>
          <p:cNvPr id="25" name="Shape 22"/>
          <p:cNvSpPr/>
          <p:nvPr/>
        </p:nvSpPr>
        <p:spPr>
          <a:xfrm>
            <a:off x="3657600" y="1691640"/>
            <a:ext cx="3840480" cy="4297680"/>
          </a:xfrm>
          <a:prstGeom prst="roundRect">
            <a:avLst>
              <a:gd name="adj" fmla="val 1429"/>
            </a:avLst>
          </a:prstGeom>
          <a:solidFill>
            <a:srgbClr val="FFFFFF"/>
          </a:solidFill>
          <a:ln w="15875">
            <a:solidFill>
              <a:srgbClr val="17788F"/>
            </a:solidFill>
            <a:prstDash val="dash"/>
          </a:ln>
        </p:spPr>
      </p:sp>
      <p:sp>
        <p:nvSpPr>
          <p:cNvPr id="26" name="Text 23"/>
          <p:cNvSpPr/>
          <p:nvPr/>
        </p:nvSpPr>
        <p:spPr>
          <a:xfrm>
            <a:off x="3657600" y="1911096"/>
            <a:ext cx="3840480" cy="274320"/>
          </a:xfrm>
          <a:prstGeom prst="rect">
            <a:avLst/>
          </a:prstGeom>
          <a:noFill/>
          <a:ln/>
        </p:spPr>
        <p:txBody>
          <a:bodyPr wrap="square" lIns="0" tIns="0" rIns="0" bIns="0" rtlCol="0" anchor="t"/>
          <a:lstStyle/>
          <a:p>
            <a:pPr marL="0" indent="0" algn="ctr">
              <a:buNone/>
            </a:pPr>
            <a:r>
              <a:rPr lang="en-US" sz="1200" b="1" kern="0" spc="100" dirty="0">
                <a:solidFill>
                  <a:srgbClr val="17788F"/>
                </a:solidFill>
                <a:latin typeface="Calibri" pitchFamily="34" charset="0"/>
                <a:ea typeface="Calibri" pitchFamily="34" charset="-122"/>
                <a:cs typeface="Calibri" pitchFamily="34" charset="-120"/>
              </a:rPr>
              <a:t>ANALYTICS ECOSYSTEM</a:t>
            </a:r>
            <a:endParaRPr lang="en-US" sz="1200" dirty="0"/>
          </a:p>
        </p:txBody>
      </p:sp>
      <p:sp>
        <p:nvSpPr>
          <p:cNvPr id="27" name="Text 24"/>
          <p:cNvSpPr/>
          <p:nvPr/>
        </p:nvSpPr>
        <p:spPr>
          <a:xfrm>
            <a:off x="3657600" y="2167128"/>
            <a:ext cx="3840480" cy="219456"/>
          </a:xfrm>
          <a:prstGeom prst="rect">
            <a:avLst/>
          </a:prstGeom>
          <a:noFill/>
          <a:ln/>
        </p:spPr>
        <p:txBody>
          <a:bodyPr wrap="square" lIns="0" tIns="0" rIns="0" bIns="0" rtlCol="0" anchor="t"/>
          <a:lstStyle/>
          <a:p>
            <a:pPr marL="0" indent="0" algn="ctr">
              <a:buNone/>
            </a:pPr>
            <a:r>
              <a:rPr lang="en-US" sz="850" b="1" kern="0" spc="50" dirty="0">
                <a:solidFill>
                  <a:srgbClr val="5F6A78"/>
                </a:solidFill>
                <a:latin typeface="Calibri" pitchFamily="34" charset="0"/>
                <a:ea typeface="Calibri" pitchFamily="34" charset="-122"/>
                <a:cs typeface="Calibri" pitchFamily="34" charset="-120"/>
              </a:rPr>
              <a:t>R  ·  ggplot2 · caret / tidymodels</a:t>
            </a:r>
            <a:endParaRPr lang="en-US" sz="850" dirty="0"/>
          </a:p>
        </p:txBody>
      </p:sp>
      <p:sp>
        <p:nvSpPr>
          <p:cNvPr id="28" name="Shape 25"/>
          <p:cNvSpPr/>
          <p:nvPr/>
        </p:nvSpPr>
        <p:spPr>
          <a:xfrm flipV="1">
            <a:off x="4663440" y="2889504"/>
            <a:ext cx="914400" cy="1371600"/>
          </a:xfrm>
          <a:prstGeom prst="line">
            <a:avLst/>
          </a:prstGeom>
          <a:noFill/>
          <a:ln w="19050">
            <a:solidFill>
              <a:srgbClr val="17788F"/>
            </a:solidFill>
            <a:prstDash val="solid"/>
          </a:ln>
        </p:spPr>
      </p:sp>
      <p:sp>
        <p:nvSpPr>
          <p:cNvPr id="29" name="Shape 26"/>
          <p:cNvSpPr/>
          <p:nvPr/>
        </p:nvSpPr>
        <p:spPr>
          <a:xfrm flipV="1">
            <a:off x="5577840" y="2889504"/>
            <a:ext cx="914400" cy="1371600"/>
          </a:xfrm>
          <a:prstGeom prst="line">
            <a:avLst/>
          </a:prstGeom>
          <a:noFill/>
          <a:ln w="19050">
            <a:solidFill>
              <a:srgbClr val="C68A38"/>
            </a:solidFill>
            <a:prstDash val="solid"/>
          </a:ln>
        </p:spPr>
      </p:sp>
      <p:sp>
        <p:nvSpPr>
          <p:cNvPr id="30" name="Shape 27"/>
          <p:cNvSpPr/>
          <p:nvPr/>
        </p:nvSpPr>
        <p:spPr>
          <a:xfrm>
            <a:off x="5577840" y="4261104"/>
            <a:ext cx="0" cy="1298448"/>
          </a:xfrm>
          <a:prstGeom prst="line">
            <a:avLst/>
          </a:prstGeom>
          <a:noFill/>
          <a:ln w="19050">
            <a:solidFill>
              <a:srgbClr val="505E92"/>
            </a:solidFill>
            <a:prstDash val="solid"/>
          </a:ln>
        </p:spPr>
      </p:sp>
      <p:sp>
        <p:nvSpPr>
          <p:cNvPr id="31" name="Shape 28"/>
          <p:cNvSpPr/>
          <p:nvPr/>
        </p:nvSpPr>
        <p:spPr>
          <a:xfrm>
            <a:off x="4892040" y="3575304"/>
            <a:ext cx="1371600" cy="1371600"/>
          </a:xfrm>
          <a:prstGeom prst="ellipse">
            <a:avLst/>
          </a:prstGeom>
          <a:solidFill>
            <a:srgbClr val="142A4C"/>
          </a:solidFill>
          <a:ln w="25400">
            <a:solidFill>
              <a:srgbClr val="FFFFFF"/>
            </a:solidFill>
            <a:prstDash val="solid"/>
          </a:ln>
          <a:effectLst>
            <a:outerShdw blurRad="114300" dist="25400" dir="5400000" algn="bl" rotWithShape="0">
              <a:srgbClr val="142A4C">
                <a:alpha val="22000"/>
              </a:srgbClr>
            </a:outerShdw>
          </a:effectLst>
        </p:spPr>
      </p:sp>
      <p:sp>
        <p:nvSpPr>
          <p:cNvPr id="32" name="Text 29"/>
          <p:cNvSpPr/>
          <p:nvPr/>
        </p:nvSpPr>
        <p:spPr>
          <a:xfrm>
            <a:off x="4919472" y="3877056"/>
            <a:ext cx="1316736" cy="777240"/>
          </a:xfrm>
          <a:prstGeom prst="rect">
            <a:avLst/>
          </a:prstGeom>
          <a:noFill/>
          <a:ln/>
        </p:spPr>
        <p:txBody>
          <a:bodyPr wrap="square" lIns="0" tIns="0" rIns="0" bIns="0" rtlCol="0" anchor="ctr"/>
          <a:lstStyle/>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Restaurant</a:t>
            </a:r>
            <a:endParaRPr lang="en-US" sz="1050" dirty="0"/>
          </a:p>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Sales &amp; Demand</a:t>
            </a:r>
            <a:endParaRPr lang="en-US" sz="1050" dirty="0"/>
          </a:p>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Analytics</a:t>
            </a:r>
            <a:endParaRPr lang="en-US" sz="1050" dirty="0"/>
          </a:p>
        </p:txBody>
      </p:sp>
      <p:sp>
        <p:nvSpPr>
          <p:cNvPr id="33" name="Shape 30"/>
          <p:cNvSpPr/>
          <p:nvPr/>
        </p:nvSpPr>
        <p:spPr>
          <a:xfrm>
            <a:off x="3886200" y="2514600"/>
            <a:ext cx="1554480" cy="749808"/>
          </a:xfrm>
          <a:prstGeom prst="roundRect">
            <a:avLst>
              <a:gd name="adj" fmla="val 6098"/>
            </a:avLst>
          </a:prstGeom>
          <a:solidFill>
            <a:srgbClr val="17788F"/>
          </a:solidFill>
          <a:ln/>
        </p:spPr>
      </p:sp>
      <p:pic>
        <p:nvPicPr>
          <p:cNvPr id="34" name="Image 1" descr="/home/claude/deck/icons/barchart.png"/>
          <p:cNvPicPr>
            <a:picLocks noChangeAspect="1"/>
          </p:cNvPicPr>
          <p:nvPr/>
        </p:nvPicPr>
        <p:blipFill>
          <a:blip r:embed="rId4"/>
          <a:stretch>
            <a:fillRect/>
          </a:stretch>
        </p:blipFill>
        <p:spPr>
          <a:xfrm>
            <a:off x="4032504" y="2743200"/>
            <a:ext cx="292608" cy="292608"/>
          </a:xfrm>
          <a:prstGeom prst="rect">
            <a:avLst/>
          </a:prstGeom>
        </p:spPr>
      </p:pic>
      <p:sp>
        <p:nvSpPr>
          <p:cNvPr id="35" name="Text 31"/>
          <p:cNvSpPr/>
          <p:nvPr/>
        </p:nvSpPr>
        <p:spPr>
          <a:xfrm>
            <a:off x="4343400" y="2514600"/>
            <a:ext cx="1051560" cy="749808"/>
          </a:xfrm>
          <a:prstGeom prst="rect">
            <a:avLst/>
          </a:prstGeom>
          <a:noFill/>
          <a:ln/>
        </p:spPr>
        <p:txBody>
          <a:bodyPr wrap="square" lIns="0" tIns="0" rIns="0" bIns="0" rtlCol="0" anchor="ctr"/>
          <a:lstStyle/>
          <a:p>
            <a:pPr marL="0" indent="0" algn="l">
              <a:lnSpc>
                <a:spcPts val="1300"/>
              </a:lnSpc>
              <a:buNone/>
            </a:pPr>
            <a:r>
              <a:rPr lang="en-US" sz="1100" b="1" dirty="0">
                <a:solidFill>
                  <a:srgbClr val="FFFFFF"/>
                </a:solidFill>
                <a:latin typeface="Calibri" pitchFamily="34" charset="0"/>
                <a:ea typeface="Calibri" pitchFamily="34" charset="-122"/>
                <a:cs typeface="Calibri" pitchFamily="34" charset="-120"/>
              </a:rPr>
              <a:t>Sales</a:t>
            </a:r>
            <a:endParaRPr lang="en-US" sz="1100" dirty="0"/>
          </a:p>
          <a:p>
            <a:pPr marL="0" indent="0" algn="l">
              <a:lnSpc>
                <a:spcPts val="1300"/>
              </a:lnSpc>
              <a:buNone/>
            </a:pPr>
            <a:r>
              <a:rPr lang="en-US" sz="1100" b="1" dirty="0">
                <a:solidFill>
                  <a:srgbClr val="FFFFFF"/>
                </a:solidFill>
                <a:latin typeface="Calibri" pitchFamily="34" charset="0"/>
                <a:ea typeface="Calibri" pitchFamily="34" charset="-122"/>
                <a:cs typeface="Calibri" pitchFamily="34" charset="-120"/>
              </a:rPr>
              <a:t>Analytics</a:t>
            </a:r>
            <a:endParaRPr lang="en-US" sz="1100" dirty="0"/>
          </a:p>
        </p:txBody>
      </p:sp>
      <p:sp>
        <p:nvSpPr>
          <p:cNvPr id="36" name="Shape 32"/>
          <p:cNvSpPr/>
          <p:nvPr/>
        </p:nvSpPr>
        <p:spPr>
          <a:xfrm>
            <a:off x="5715000" y="2514600"/>
            <a:ext cx="1554480" cy="749808"/>
          </a:xfrm>
          <a:prstGeom prst="roundRect">
            <a:avLst>
              <a:gd name="adj" fmla="val 6098"/>
            </a:avLst>
          </a:prstGeom>
          <a:solidFill>
            <a:srgbClr val="C68A38"/>
          </a:solidFill>
          <a:ln/>
        </p:spPr>
      </p:sp>
      <p:pic>
        <p:nvPicPr>
          <p:cNvPr id="37" name="Image 2" descr="/home/claude/deck/icons/trendingup.png"/>
          <p:cNvPicPr>
            <a:picLocks noChangeAspect="1"/>
          </p:cNvPicPr>
          <p:nvPr/>
        </p:nvPicPr>
        <p:blipFill>
          <a:blip r:embed="rId5"/>
          <a:stretch>
            <a:fillRect/>
          </a:stretch>
        </p:blipFill>
        <p:spPr>
          <a:xfrm>
            <a:off x="5861304" y="2743200"/>
            <a:ext cx="292608" cy="292608"/>
          </a:xfrm>
          <a:prstGeom prst="rect">
            <a:avLst/>
          </a:prstGeom>
        </p:spPr>
      </p:pic>
      <p:sp>
        <p:nvSpPr>
          <p:cNvPr id="38" name="Text 33"/>
          <p:cNvSpPr/>
          <p:nvPr/>
        </p:nvSpPr>
        <p:spPr>
          <a:xfrm>
            <a:off x="6172200" y="2514600"/>
            <a:ext cx="1051560" cy="749808"/>
          </a:xfrm>
          <a:prstGeom prst="rect">
            <a:avLst/>
          </a:prstGeom>
          <a:noFill/>
          <a:ln/>
        </p:spPr>
        <p:txBody>
          <a:bodyPr wrap="square" lIns="0" tIns="0" rIns="0" bIns="0" rtlCol="0" anchor="ctr"/>
          <a:lstStyle/>
          <a:p>
            <a:pPr marL="0" indent="0" algn="l">
              <a:lnSpc>
                <a:spcPts val="1300"/>
              </a:lnSpc>
              <a:buNone/>
            </a:pPr>
            <a:r>
              <a:rPr lang="en-US" sz="1100" b="1" dirty="0">
                <a:solidFill>
                  <a:srgbClr val="FFFFFF"/>
                </a:solidFill>
                <a:latin typeface="Calibri" pitchFamily="34" charset="0"/>
                <a:ea typeface="Calibri" pitchFamily="34" charset="-122"/>
                <a:cs typeface="Calibri" pitchFamily="34" charset="-120"/>
              </a:rPr>
              <a:t>Demand</a:t>
            </a:r>
            <a:endParaRPr lang="en-US" sz="1100" dirty="0"/>
          </a:p>
          <a:p>
            <a:pPr marL="0" indent="0" algn="l">
              <a:lnSpc>
                <a:spcPts val="1300"/>
              </a:lnSpc>
              <a:buNone/>
            </a:pPr>
            <a:r>
              <a:rPr lang="en-US" sz="1100" b="1" dirty="0">
                <a:solidFill>
                  <a:srgbClr val="FFFFFF"/>
                </a:solidFill>
                <a:latin typeface="Calibri" pitchFamily="34" charset="0"/>
                <a:ea typeface="Calibri" pitchFamily="34" charset="-122"/>
                <a:cs typeface="Calibri" pitchFamily="34" charset="-120"/>
              </a:rPr>
              <a:t>Prediction</a:t>
            </a:r>
            <a:endParaRPr lang="en-US" sz="1100" dirty="0"/>
          </a:p>
        </p:txBody>
      </p:sp>
      <p:sp>
        <p:nvSpPr>
          <p:cNvPr id="39" name="Shape 34"/>
          <p:cNvSpPr/>
          <p:nvPr/>
        </p:nvSpPr>
        <p:spPr>
          <a:xfrm>
            <a:off x="4800600" y="5184648"/>
            <a:ext cx="1554480" cy="749808"/>
          </a:xfrm>
          <a:prstGeom prst="roundRect">
            <a:avLst>
              <a:gd name="adj" fmla="val 6098"/>
            </a:avLst>
          </a:prstGeom>
          <a:solidFill>
            <a:srgbClr val="505E92"/>
          </a:solidFill>
          <a:ln/>
        </p:spPr>
      </p:sp>
      <p:pic>
        <p:nvPicPr>
          <p:cNvPr id="40" name="Image 3" descr="/home/claude/deck/icons/target.png"/>
          <p:cNvPicPr>
            <a:picLocks noChangeAspect="1"/>
          </p:cNvPicPr>
          <p:nvPr/>
        </p:nvPicPr>
        <p:blipFill>
          <a:blip r:embed="rId6"/>
          <a:stretch>
            <a:fillRect/>
          </a:stretch>
        </p:blipFill>
        <p:spPr>
          <a:xfrm>
            <a:off x="4946904" y="5413248"/>
            <a:ext cx="292608" cy="292608"/>
          </a:xfrm>
          <a:prstGeom prst="rect">
            <a:avLst/>
          </a:prstGeom>
        </p:spPr>
      </p:pic>
      <p:sp>
        <p:nvSpPr>
          <p:cNvPr id="41" name="Text 35"/>
          <p:cNvSpPr/>
          <p:nvPr/>
        </p:nvSpPr>
        <p:spPr>
          <a:xfrm>
            <a:off x="5257800" y="5184648"/>
            <a:ext cx="1051560" cy="749808"/>
          </a:xfrm>
          <a:prstGeom prst="rect">
            <a:avLst/>
          </a:prstGeom>
          <a:noFill/>
          <a:ln/>
        </p:spPr>
        <p:txBody>
          <a:bodyPr wrap="square" lIns="0" tIns="0" rIns="0" bIns="0" rtlCol="0" anchor="ctr"/>
          <a:lstStyle/>
          <a:p>
            <a:pPr marL="0" indent="0" algn="l">
              <a:lnSpc>
                <a:spcPts val="1300"/>
              </a:lnSpc>
              <a:buNone/>
            </a:pPr>
            <a:r>
              <a:rPr lang="en-US" sz="1100" b="1" dirty="0">
                <a:solidFill>
                  <a:srgbClr val="FFFFFF"/>
                </a:solidFill>
                <a:latin typeface="Calibri" pitchFamily="34" charset="0"/>
                <a:ea typeface="Calibri" pitchFamily="34" charset="-122"/>
                <a:cs typeface="Calibri" pitchFamily="34" charset="-120"/>
              </a:rPr>
              <a:t>Business</a:t>
            </a:r>
            <a:endParaRPr lang="en-US" sz="1100" dirty="0"/>
          </a:p>
          <a:p>
            <a:pPr marL="0" indent="0" algn="l">
              <a:lnSpc>
                <a:spcPts val="1300"/>
              </a:lnSpc>
              <a:buNone/>
            </a:pPr>
            <a:r>
              <a:rPr lang="en-US" sz="1100" b="1" dirty="0">
                <a:solidFill>
                  <a:srgbClr val="FFFFFF"/>
                </a:solidFill>
                <a:latin typeface="Calibri" pitchFamily="34" charset="0"/>
                <a:ea typeface="Calibri" pitchFamily="34" charset="-122"/>
                <a:cs typeface="Calibri" pitchFamily="34" charset="-120"/>
              </a:rPr>
              <a:t>Insights</a:t>
            </a:r>
            <a:endParaRPr lang="en-US" sz="1100" dirty="0"/>
          </a:p>
        </p:txBody>
      </p:sp>
      <p:sp>
        <p:nvSpPr>
          <p:cNvPr id="42" name="Shape 36"/>
          <p:cNvSpPr/>
          <p:nvPr/>
        </p:nvSpPr>
        <p:spPr>
          <a:xfrm>
            <a:off x="7955280" y="1691640"/>
            <a:ext cx="3642055" cy="4297680"/>
          </a:xfrm>
          <a:prstGeom prst="roundRect">
            <a:avLst>
              <a:gd name="adj" fmla="val 1506"/>
            </a:avLst>
          </a:prstGeom>
          <a:solidFill>
            <a:srgbClr val="0D1E38"/>
          </a:solidFill>
          <a:ln/>
        </p:spPr>
      </p:sp>
      <p:sp>
        <p:nvSpPr>
          <p:cNvPr id="43" name="Shape 37"/>
          <p:cNvSpPr/>
          <p:nvPr/>
        </p:nvSpPr>
        <p:spPr>
          <a:xfrm>
            <a:off x="8156448" y="1929384"/>
            <a:ext cx="82296" cy="82296"/>
          </a:xfrm>
          <a:prstGeom prst="ellipse">
            <a:avLst/>
          </a:prstGeom>
          <a:solidFill>
            <a:srgbClr val="E4A24E"/>
          </a:solidFill>
          <a:ln/>
        </p:spPr>
      </p:sp>
      <p:sp>
        <p:nvSpPr>
          <p:cNvPr id="44" name="Shape 38"/>
          <p:cNvSpPr/>
          <p:nvPr/>
        </p:nvSpPr>
        <p:spPr>
          <a:xfrm>
            <a:off x="8293608" y="1929384"/>
            <a:ext cx="82296" cy="82296"/>
          </a:xfrm>
          <a:prstGeom prst="ellipse">
            <a:avLst/>
          </a:prstGeom>
          <a:solidFill>
            <a:srgbClr val="4FB3D0"/>
          </a:solidFill>
          <a:ln/>
        </p:spPr>
      </p:sp>
      <p:sp>
        <p:nvSpPr>
          <p:cNvPr id="45" name="Shape 39"/>
          <p:cNvSpPr/>
          <p:nvPr/>
        </p:nvSpPr>
        <p:spPr>
          <a:xfrm>
            <a:off x="8430768" y="1929384"/>
            <a:ext cx="82296" cy="82296"/>
          </a:xfrm>
          <a:prstGeom prst="ellipse">
            <a:avLst/>
          </a:prstGeom>
          <a:solidFill>
            <a:srgbClr val="6B7A90"/>
          </a:solidFill>
          <a:ln/>
        </p:spPr>
      </p:sp>
      <p:sp>
        <p:nvSpPr>
          <p:cNvPr id="46" name="Text 40"/>
          <p:cNvSpPr/>
          <p:nvPr/>
        </p:nvSpPr>
        <p:spPr>
          <a:xfrm>
            <a:off x="8641080" y="1856232"/>
            <a:ext cx="2819095" cy="256032"/>
          </a:xfrm>
          <a:prstGeom prst="rect">
            <a:avLst/>
          </a:prstGeom>
          <a:noFill/>
          <a:ln/>
        </p:spPr>
        <p:txBody>
          <a:bodyPr wrap="square" lIns="0" tIns="0" rIns="0" bIns="0" rtlCol="0" anchor="t"/>
          <a:lstStyle/>
          <a:p>
            <a:pPr marL="0" indent="0" algn="l">
              <a:buNone/>
            </a:pPr>
            <a:r>
              <a:rPr lang="en-US" sz="850" b="1" kern="0" spc="100" dirty="0">
                <a:solidFill>
                  <a:srgbClr val="9EC6D8"/>
                </a:solidFill>
                <a:latin typeface="Calibri" pitchFamily="34" charset="0"/>
                <a:ea typeface="Calibri" pitchFamily="34" charset="-122"/>
                <a:cs typeface="Calibri" pitchFamily="34" charset="-120"/>
              </a:rPr>
              <a:t>R SHINY  ·  DECISION SUPPORT</a:t>
            </a:r>
            <a:endParaRPr lang="en-US" sz="850" dirty="0"/>
          </a:p>
        </p:txBody>
      </p:sp>
      <p:sp>
        <p:nvSpPr>
          <p:cNvPr id="47" name="Shape 41"/>
          <p:cNvSpPr/>
          <p:nvPr/>
        </p:nvSpPr>
        <p:spPr>
          <a:xfrm>
            <a:off x="8138160" y="2148840"/>
            <a:ext cx="3276295" cy="0"/>
          </a:xfrm>
          <a:prstGeom prst="line">
            <a:avLst/>
          </a:prstGeom>
          <a:noFill/>
          <a:ln w="9525">
            <a:solidFill>
              <a:srgbClr val="24466E"/>
            </a:solidFill>
            <a:prstDash val="solid"/>
          </a:ln>
        </p:spPr>
      </p:sp>
      <p:sp>
        <p:nvSpPr>
          <p:cNvPr id="48" name="Shape 42"/>
          <p:cNvSpPr/>
          <p:nvPr/>
        </p:nvSpPr>
        <p:spPr>
          <a:xfrm>
            <a:off x="8138160" y="2258568"/>
            <a:ext cx="1043330" cy="237744"/>
          </a:xfrm>
          <a:prstGeom prst="roundRect">
            <a:avLst>
              <a:gd name="adj" fmla="val 23077"/>
            </a:avLst>
          </a:prstGeom>
          <a:solidFill>
            <a:srgbClr val="17788F"/>
          </a:solidFill>
          <a:ln/>
        </p:spPr>
      </p:sp>
      <p:sp>
        <p:nvSpPr>
          <p:cNvPr id="49" name="Text 43"/>
          <p:cNvSpPr/>
          <p:nvPr/>
        </p:nvSpPr>
        <p:spPr>
          <a:xfrm>
            <a:off x="8138160" y="2253996"/>
            <a:ext cx="104333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Sales</a:t>
            </a:r>
            <a:endParaRPr lang="en-US" sz="800" dirty="0"/>
          </a:p>
        </p:txBody>
      </p:sp>
      <p:sp>
        <p:nvSpPr>
          <p:cNvPr id="50" name="Shape 44"/>
          <p:cNvSpPr/>
          <p:nvPr/>
        </p:nvSpPr>
        <p:spPr>
          <a:xfrm>
            <a:off x="9254642" y="2258568"/>
            <a:ext cx="1043330" cy="237744"/>
          </a:xfrm>
          <a:prstGeom prst="roundRect">
            <a:avLst>
              <a:gd name="adj" fmla="val 23077"/>
            </a:avLst>
          </a:prstGeom>
          <a:ln w="12700">
            <a:solidFill>
              <a:srgbClr val="2A4E76"/>
            </a:solidFill>
            <a:prstDash val="solid"/>
          </a:ln>
        </p:spPr>
      </p:sp>
      <p:sp>
        <p:nvSpPr>
          <p:cNvPr id="51" name="Text 45"/>
          <p:cNvSpPr/>
          <p:nvPr/>
        </p:nvSpPr>
        <p:spPr>
          <a:xfrm>
            <a:off x="9254642" y="2253996"/>
            <a:ext cx="1043330" cy="237744"/>
          </a:xfrm>
          <a:prstGeom prst="rect">
            <a:avLst/>
          </a:prstGeom>
          <a:noFill/>
          <a:ln/>
        </p:spPr>
        <p:txBody>
          <a:bodyPr wrap="square" lIns="0" tIns="0" rIns="0" bIns="0" rtlCol="0" anchor="ctr"/>
          <a:lstStyle/>
          <a:p>
            <a:pPr marL="0" indent="0" algn="ctr">
              <a:buNone/>
            </a:pPr>
            <a:r>
              <a:rPr lang="en-US" sz="800" b="1" dirty="0">
                <a:solidFill>
                  <a:srgbClr val="9EC6D8"/>
                </a:solidFill>
                <a:latin typeface="Calibri" pitchFamily="34" charset="0"/>
                <a:ea typeface="Calibri" pitchFamily="34" charset="-122"/>
                <a:cs typeface="Calibri" pitchFamily="34" charset="-120"/>
              </a:rPr>
              <a:t>Demand</a:t>
            </a:r>
            <a:endParaRPr lang="en-US" sz="800" dirty="0"/>
          </a:p>
        </p:txBody>
      </p:sp>
      <p:sp>
        <p:nvSpPr>
          <p:cNvPr id="52" name="Shape 46"/>
          <p:cNvSpPr/>
          <p:nvPr/>
        </p:nvSpPr>
        <p:spPr>
          <a:xfrm>
            <a:off x="10371125" y="2258568"/>
            <a:ext cx="1043330" cy="237744"/>
          </a:xfrm>
          <a:prstGeom prst="roundRect">
            <a:avLst>
              <a:gd name="adj" fmla="val 23077"/>
            </a:avLst>
          </a:prstGeom>
          <a:ln w="12700">
            <a:solidFill>
              <a:srgbClr val="2A4E76"/>
            </a:solidFill>
            <a:prstDash val="solid"/>
          </a:ln>
        </p:spPr>
      </p:sp>
      <p:sp>
        <p:nvSpPr>
          <p:cNvPr id="53" name="Text 47"/>
          <p:cNvSpPr/>
          <p:nvPr/>
        </p:nvSpPr>
        <p:spPr>
          <a:xfrm>
            <a:off x="10371125" y="2253996"/>
            <a:ext cx="1043330" cy="237744"/>
          </a:xfrm>
          <a:prstGeom prst="rect">
            <a:avLst/>
          </a:prstGeom>
          <a:noFill/>
          <a:ln/>
        </p:spPr>
        <p:txBody>
          <a:bodyPr wrap="square" lIns="0" tIns="0" rIns="0" bIns="0" rtlCol="0" anchor="ctr"/>
          <a:lstStyle/>
          <a:p>
            <a:pPr marL="0" indent="0" algn="ctr">
              <a:buNone/>
            </a:pPr>
            <a:r>
              <a:rPr lang="en-US" sz="800" b="1" dirty="0">
                <a:solidFill>
                  <a:srgbClr val="9EC6D8"/>
                </a:solidFill>
                <a:latin typeface="Calibri" pitchFamily="34" charset="0"/>
                <a:ea typeface="Calibri" pitchFamily="34" charset="-122"/>
                <a:cs typeface="Calibri" pitchFamily="34" charset="-120"/>
              </a:rPr>
              <a:t>Models</a:t>
            </a:r>
            <a:endParaRPr lang="en-US" sz="800" dirty="0"/>
          </a:p>
        </p:txBody>
      </p:sp>
      <p:sp>
        <p:nvSpPr>
          <p:cNvPr id="54" name="Shape 48"/>
          <p:cNvSpPr/>
          <p:nvPr/>
        </p:nvSpPr>
        <p:spPr>
          <a:xfrm>
            <a:off x="8138160" y="2624328"/>
            <a:ext cx="1018946" cy="603504"/>
          </a:xfrm>
          <a:prstGeom prst="roundRect">
            <a:avLst>
              <a:gd name="adj" fmla="val 7576"/>
            </a:avLst>
          </a:prstGeom>
          <a:solidFill>
            <a:srgbClr val="17304F"/>
          </a:solidFill>
          <a:ln w="12700">
            <a:solidFill>
              <a:srgbClr val="2A4E76"/>
            </a:solidFill>
            <a:prstDash val="solid"/>
          </a:ln>
        </p:spPr>
      </p:sp>
      <p:sp>
        <p:nvSpPr>
          <p:cNvPr id="55" name="Text 49"/>
          <p:cNvSpPr/>
          <p:nvPr/>
        </p:nvSpPr>
        <p:spPr>
          <a:xfrm>
            <a:off x="8247888" y="2715768"/>
            <a:ext cx="799490" cy="182880"/>
          </a:xfrm>
          <a:prstGeom prst="rect">
            <a:avLst/>
          </a:prstGeom>
          <a:noFill/>
          <a:ln/>
        </p:spPr>
        <p:txBody>
          <a:bodyPr wrap="square" lIns="0" tIns="0" rIns="0" bIns="0" rtlCol="0" anchor="t"/>
          <a:lstStyle/>
          <a:p>
            <a:pPr marL="0" indent="0" algn="l">
              <a:buNone/>
            </a:pPr>
            <a:r>
              <a:rPr lang="en-US" sz="700" b="1" kern="0" spc="80" dirty="0">
                <a:solidFill>
                  <a:srgbClr val="9EC6D8"/>
                </a:solidFill>
                <a:latin typeface="Calibri" pitchFamily="34" charset="0"/>
                <a:ea typeface="Calibri" pitchFamily="34" charset="-122"/>
                <a:cs typeface="Calibri" pitchFamily="34" charset="-120"/>
              </a:rPr>
              <a:t>SALES</a:t>
            </a:r>
            <a:endParaRPr lang="en-US" sz="700" dirty="0"/>
          </a:p>
        </p:txBody>
      </p:sp>
      <p:sp>
        <p:nvSpPr>
          <p:cNvPr id="56" name="Text 50"/>
          <p:cNvSpPr/>
          <p:nvPr/>
        </p:nvSpPr>
        <p:spPr>
          <a:xfrm>
            <a:off x="8247888" y="2862072"/>
            <a:ext cx="799490" cy="292608"/>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57" name="Shape 51"/>
          <p:cNvSpPr/>
          <p:nvPr/>
        </p:nvSpPr>
        <p:spPr>
          <a:xfrm>
            <a:off x="8773058" y="3008376"/>
            <a:ext cx="274320" cy="128016"/>
          </a:xfrm>
          <a:prstGeom prst="rect">
            <a:avLst/>
          </a:prstGeom>
          <a:solidFill>
            <a:srgbClr val="4FB3D0">
              <a:alpha val="65000"/>
            </a:srgbClr>
          </a:solidFill>
          <a:ln/>
        </p:spPr>
      </p:sp>
      <p:sp>
        <p:nvSpPr>
          <p:cNvPr id="58" name="Shape 52"/>
          <p:cNvSpPr/>
          <p:nvPr/>
        </p:nvSpPr>
        <p:spPr>
          <a:xfrm>
            <a:off x="9266834" y="2624328"/>
            <a:ext cx="1018946" cy="603504"/>
          </a:xfrm>
          <a:prstGeom prst="roundRect">
            <a:avLst>
              <a:gd name="adj" fmla="val 7576"/>
            </a:avLst>
          </a:prstGeom>
          <a:solidFill>
            <a:srgbClr val="17304F"/>
          </a:solidFill>
          <a:ln w="12700">
            <a:solidFill>
              <a:srgbClr val="2A4E76"/>
            </a:solidFill>
            <a:prstDash val="solid"/>
          </a:ln>
        </p:spPr>
      </p:sp>
      <p:sp>
        <p:nvSpPr>
          <p:cNvPr id="59" name="Text 53"/>
          <p:cNvSpPr/>
          <p:nvPr/>
        </p:nvSpPr>
        <p:spPr>
          <a:xfrm>
            <a:off x="9376562" y="2715768"/>
            <a:ext cx="799490" cy="182880"/>
          </a:xfrm>
          <a:prstGeom prst="rect">
            <a:avLst/>
          </a:prstGeom>
          <a:noFill/>
          <a:ln/>
        </p:spPr>
        <p:txBody>
          <a:bodyPr wrap="square" lIns="0" tIns="0" rIns="0" bIns="0" rtlCol="0" anchor="t"/>
          <a:lstStyle/>
          <a:p>
            <a:pPr marL="0" indent="0" algn="l">
              <a:buNone/>
            </a:pPr>
            <a:r>
              <a:rPr lang="en-US" sz="700" b="1" kern="0" spc="80" dirty="0">
                <a:solidFill>
                  <a:srgbClr val="9EC6D8"/>
                </a:solidFill>
                <a:latin typeface="Calibri" pitchFamily="34" charset="0"/>
                <a:ea typeface="Calibri" pitchFamily="34" charset="-122"/>
                <a:cs typeface="Calibri" pitchFamily="34" charset="-120"/>
              </a:rPr>
              <a:t>ORDERS</a:t>
            </a:r>
            <a:endParaRPr lang="en-US" sz="700" dirty="0"/>
          </a:p>
        </p:txBody>
      </p:sp>
      <p:sp>
        <p:nvSpPr>
          <p:cNvPr id="60" name="Text 54"/>
          <p:cNvSpPr/>
          <p:nvPr/>
        </p:nvSpPr>
        <p:spPr>
          <a:xfrm>
            <a:off x="9376562" y="2862072"/>
            <a:ext cx="799490" cy="292608"/>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61" name="Shape 55"/>
          <p:cNvSpPr/>
          <p:nvPr/>
        </p:nvSpPr>
        <p:spPr>
          <a:xfrm>
            <a:off x="9901733" y="3008376"/>
            <a:ext cx="274320" cy="128016"/>
          </a:xfrm>
          <a:prstGeom prst="rect">
            <a:avLst/>
          </a:prstGeom>
          <a:solidFill>
            <a:srgbClr val="4FB3D0">
              <a:alpha val="65000"/>
            </a:srgbClr>
          </a:solidFill>
          <a:ln/>
        </p:spPr>
      </p:sp>
      <p:sp>
        <p:nvSpPr>
          <p:cNvPr id="62" name="Shape 56"/>
          <p:cNvSpPr/>
          <p:nvPr/>
        </p:nvSpPr>
        <p:spPr>
          <a:xfrm>
            <a:off x="10395509" y="2624328"/>
            <a:ext cx="1018946" cy="603504"/>
          </a:xfrm>
          <a:prstGeom prst="roundRect">
            <a:avLst>
              <a:gd name="adj" fmla="val 7576"/>
            </a:avLst>
          </a:prstGeom>
          <a:solidFill>
            <a:srgbClr val="17304F"/>
          </a:solidFill>
          <a:ln w="12700">
            <a:solidFill>
              <a:srgbClr val="2A4E76"/>
            </a:solidFill>
            <a:prstDash val="solid"/>
          </a:ln>
        </p:spPr>
      </p:sp>
      <p:sp>
        <p:nvSpPr>
          <p:cNvPr id="63" name="Text 57"/>
          <p:cNvSpPr/>
          <p:nvPr/>
        </p:nvSpPr>
        <p:spPr>
          <a:xfrm>
            <a:off x="10505237" y="2715768"/>
            <a:ext cx="799490" cy="182880"/>
          </a:xfrm>
          <a:prstGeom prst="rect">
            <a:avLst/>
          </a:prstGeom>
          <a:noFill/>
          <a:ln/>
        </p:spPr>
        <p:txBody>
          <a:bodyPr wrap="square" lIns="0" tIns="0" rIns="0" bIns="0" rtlCol="0" anchor="t"/>
          <a:lstStyle/>
          <a:p>
            <a:pPr marL="0" indent="0" algn="l">
              <a:buNone/>
            </a:pPr>
            <a:r>
              <a:rPr lang="en-US" sz="700" b="1" kern="0" spc="80" dirty="0">
                <a:solidFill>
                  <a:srgbClr val="9EC6D8"/>
                </a:solidFill>
                <a:latin typeface="Calibri" pitchFamily="34" charset="0"/>
                <a:ea typeface="Calibri" pitchFamily="34" charset="-122"/>
                <a:cs typeface="Calibri" pitchFamily="34" charset="-120"/>
              </a:rPr>
              <a:t>FORECAST</a:t>
            </a:r>
            <a:endParaRPr lang="en-US" sz="700" dirty="0"/>
          </a:p>
        </p:txBody>
      </p:sp>
      <p:sp>
        <p:nvSpPr>
          <p:cNvPr id="64" name="Text 58"/>
          <p:cNvSpPr/>
          <p:nvPr/>
        </p:nvSpPr>
        <p:spPr>
          <a:xfrm>
            <a:off x="10505237" y="2862072"/>
            <a:ext cx="799490" cy="292608"/>
          </a:xfrm>
          <a:prstGeom prst="rect">
            <a:avLst/>
          </a:prstGeom>
          <a:noFill/>
          <a:ln/>
        </p:spPr>
        <p:txBody>
          <a:bodyPr wrap="square" lIns="0" tIns="0" rIns="0" bIns="0" rtlCol="0" anchor="t"/>
          <a:lstStyle/>
          <a:p>
            <a:pPr marL="0" indent="0" algn="l">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65" name="Shape 59"/>
          <p:cNvSpPr/>
          <p:nvPr/>
        </p:nvSpPr>
        <p:spPr>
          <a:xfrm>
            <a:off x="11030407" y="3008376"/>
            <a:ext cx="274320" cy="128016"/>
          </a:xfrm>
          <a:prstGeom prst="rect">
            <a:avLst/>
          </a:prstGeom>
          <a:solidFill>
            <a:srgbClr val="E4A24E">
              <a:alpha val="65000"/>
            </a:srgbClr>
          </a:solidFill>
          <a:ln/>
        </p:spPr>
      </p:sp>
      <p:sp>
        <p:nvSpPr>
          <p:cNvPr id="66" name="Shape 60"/>
          <p:cNvSpPr/>
          <p:nvPr/>
        </p:nvSpPr>
        <p:spPr>
          <a:xfrm>
            <a:off x="8138160" y="3355848"/>
            <a:ext cx="3276295" cy="1170432"/>
          </a:xfrm>
          <a:prstGeom prst="roundRect">
            <a:avLst>
              <a:gd name="adj" fmla="val 3906"/>
            </a:avLst>
          </a:prstGeom>
          <a:solidFill>
            <a:srgbClr val="17304F"/>
          </a:solidFill>
          <a:ln w="12700">
            <a:solidFill>
              <a:srgbClr val="2A4E76"/>
            </a:solidFill>
            <a:prstDash val="solid"/>
          </a:ln>
        </p:spPr>
      </p:sp>
      <p:sp>
        <p:nvSpPr>
          <p:cNvPr id="67" name="Text 61"/>
          <p:cNvSpPr/>
          <p:nvPr/>
        </p:nvSpPr>
        <p:spPr>
          <a:xfrm>
            <a:off x="8266176" y="3447288"/>
            <a:ext cx="2453335" cy="219456"/>
          </a:xfrm>
          <a:prstGeom prst="rect">
            <a:avLst/>
          </a:prstGeom>
          <a:noFill/>
          <a:ln/>
        </p:spPr>
        <p:txBody>
          <a:bodyPr wrap="square" lIns="0" tIns="0" rIns="0" bIns="0" rtlCol="0" anchor="t"/>
          <a:lstStyle/>
          <a:p>
            <a:pPr marL="0" indent="0" algn="l">
              <a:buNone/>
            </a:pPr>
            <a:r>
              <a:rPr lang="en-US" sz="850" b="1" dirty="0">
                <a:solidFill>
                  <a:srgbClr val="FFFFFF"/>
                </a:solidFill>
                <a:latin typeface="Calibri" pitchFamily="34" charset="0"/>
                <a:ea typeface="Calibri" pitchFamily="34" charset="-122"/>
                <a:cs typeface="Calibri" pitchFamily="34" charset="-120"/>
              </a:rPr>
              <a:t>Sales &amp; Demand Trend</a:t>
            </a:r>
            <a:endParaRPr lang="en-US" sz="850" dirty="0"/>
          </a:p>
        </p:txBody>
      </p:sp>
      <p:sp>
        <p:nvSpPr>
          <p:cNvPr id="68" name="Shape 62"/>
          <p:cNvSpPr/>
          <p:nvPr/>
        </p:nvSpPr>
        <p:spPr>
          <a:xfrm>
            <a:off x="10244023" y="3502152"/>
            <a:ext cx="73152" cy="73152"/>
          </a:xfrm>
          <a:prstGeom prst="ellipse">
            <a:avLst/>
          </a:prstGeom>
          <a:solidFill>
            <a:srgbClr val="4FB3D0"/>
          </a:solidFill>
          <a:ln/>
        </p:spPr>
      </p:sp>
      <p:sp>
        <p:nvSpPr>
          <p:cNvPr id="69" name="Text 63"/>
          <p:cNvSpPr/>
          <p:nvPr/>
        </p:nvSpPr>
        <p:spPr>
          <a:xfrm>
            <a:off x="10353751" y="3447288"/>
            <a:ext cx="457200" cy="182880"/>
          </a:xfrm>
          <a:prstGeom prst="rect">
            <a:avLst/>
          </a:prstGeom>
          <a:noFill/>
          <a:ln/>
        </p:spPr>
        <p:txBody>
          <a:bodyPr wrap="square" lIns="0" tIns="0" rIns="0" bIns="0" rtlCol="0" anchor="t"/>
          <a:lstStyle/>
          <a:p>
            <a:pPr marL="0" indent="0" algn="l">
              <a:buNone/>
            </a:pPr>
            <a:r>
              <a:rPr lang="en-US" sz="650" dirty="0">
                <a:solidFill>
                  <a:srgbClr val="9EC6D8"/>
                </a:solidFill>
                <a:latin typeface="Calibri" pitchFamily="34" charset="0"/>
                <a:ea typeface="Calibri" pitchFamily="34" charset="-122"/>
                <a:cs typeface="Calibri" pitchFamily="34" charset="-120"/>
              </a:rPr>
              <a:t>Actual</a:t>
            </a:r>
            <a:endParaRPr lang="en-US" sz="650" dirty="0"/>
          </a:p>
        </p:txBody>
      </p:sp>
      <p:sp>
        <p:nvSpPr>
          <p:cNvPr id="70" name="Shape 64"/>
          <p:cNvSpPr/>
          <p:nvPr/>
        </p:nvSpPr>
        <p:spPr>
          <a:xfrm>
            <a:off x="10810951" y="3502152"/>
            <a:ext cx="73152" cy="73152"/>
          </a:xfrm>
          <a:prstGeom prst="ellipse">
            <a:avLst/>
          </a:prstGeom>
          <a:solidFill>
            <a:srgbClr val="E4A24E"/>
          </a:solidFill>
          <a:ln/>
        </p:spPr>
      </p:sp>
      <p:sp>
        <p:nvSpPr>
          <p:cNvPr id="71" name="Text 65"/>
          <p:cNvSpPr/>
          <p:nvPr/>
        </p:nvSpPr>
        <p:spPr>
          <a:xfrm>
            <a:off x="10920679" y="3447288"/>
            <a:ext cx="502920" cy="182880"/>
          </a:xfrm>
          <a:prstGeom prst="rect">
            <a:avLst/>
          </a:prstGeom>
          <a:noFill/>
          <a:ln/>
        </p:spPr>
        <p:txBody>
          <a:bodyPr wrap="square" lIns="0" tIns="0" rIns="0" bIns="0" rtlCol="0" anchor="t"/>
          <a:lstStyle/>
          <a:p>
            <a:pPr marL="0" indent="0" algn="l">
              <a:buNone/>
            </a:pPr>
            <a:r>
              <a:rPr lang="en-US" sz="650" dirty="0">
                <a:solidFill>
                  <a:srgbClr val="9EC6D8"/>
                </a:solidFill>
                <a:latin typeface="Calibri" pitchFamily="34" charset="0"/>
                <a:ea typeface="Calibri" pitchFamily="34" charset="-122"/>
                <a:cs typeface="Calibri" pitchFamily="34" charset="-120"/>
              </a:rPr>
              <a:t>Forecast</a:t>
            </a:r>
            <a:endParaRPr lang="en-US" sz="650" dirty="0"/>
          </a:p>
        </p:txBody>
      </p:sp>
      <p:sp>
        <p:nvSpPr>
          <p:cNvPr id="72" name="Shape 66"/>
          <p:cNvSpPr/>
          <p:nvPr/>
        </p:nvSpPr>
        <p:spPr>
          <a:xfrm>
            <a:off x="8302752" y="4110228"/>
            <a:ext cx="2965399" cy="0"/>
          </a:xfrm>
          <a:prstGeom prst="line">
            <a:avLst/>
          </a:prstGeom>
          <a:noFill/>
          <a:ln w="6350">
            <a:solidFill>
              <a:srgbClr val="24466E"/>
            </a:solidFill>
            <a:prstDash val="solid"/>
          </a:ln>
        </p:spPr>
      </p:sp>
      <p:sp>
        <p:nvSpPr>
          <p:cNvPr id="73" name="Shape 67"/>
          <p:cNvSpPr/>
          <p:nvPr/>
        </p:nvSpPr>
        <p:spPr>
          <a:xfrm>
            <a:off x="8302752" y="3822192"/>
            <a:ext cx="2965399" cy="0"/>
          </a:xfrm>
          <a:prstGeom prst="line">
            <a:avLst/>
          </a:prstGeom>
          <a:noFill/>
          <a:ln w="6350">
            <a:solidFill>
              <a:srgbClr val="24466E"/>
            </a:solidFill>
            <a:prstDash val="solid"/>
          </a:ln>
        </p:spPr>
      </p:sp>
      <p:sp>
        <p:nvSpPr>
          <p:cNvPr id="74" name="Shape 68"/>
          <p:cNvSpPr/>
          <p:nvPr/>
        </p:nvSpPr>
        <p:spPr>
          <a:xfrm flipV="1">
            <a:off x="8302752" y="4129430"/>
            <a:ext cx="444810" cy="89611"/>
          </a:xfrm>
          <a:prstGeom prst="line">
            <a:avLst/>
          </a:prstGeom>
          <a:noFill/>
          <a:ln w="25400">
            <a:solidFill>
              <a:srgbClr val="4FB3D0"/>
            </a:solidFill>
            <a:prstDash val="solid"/>
          </a:ln>
        </p:spPr>
      </p:sp>
      <p:sp>
        <p:nvSpPr>
          <p:cNvPr id="75" name="Shape 69"/>
          <p:cNvSpPr/>
          <p:nvPr/>
        </p:nvSpPr>
        <p:spPr>
          <a:xfrm>
            <a:off x="8747562" y="4129430"/>
            <a:ext cx="444810" cy="38405"/>
          </a:xfrm>
          <a:prstGeom prst="line">
            <a:avLst/>
          </a:prstGeom>
          <a:noFill/>
          <a:ln w="25400">
            <a:solidFill>
              <a:srgbClr val="4FB3D0"/>
            </a:solidFill>
            <a:prstDash val="solid"/>
          </a:ln>
        </p:spPr>
      </p:sp>
      <p:sp>
        <p:nvSpPr>
          <p:cNvPr id="76" name="Shape 70"/>
          <p:cNvSpPr/>
          <p:nvPr/>
        </p:nvSpPr>
        <p:spPr>
          <a:xfrm flipV="1">
            <a:off x="9192372" y="4027018"/>
            <a:ext cx="444810" cy="140818"/>
          </a:xfrm>
          <a:prstGeom prst="line">
            <a:avLst/>
          </a:prstGeom>
          <a:noFill/>
          <a:ln w="25400">
            <a:solidFill>
              <a:srgbClr val="4FB3D0"/>
            </a:solidFill>
            <a:prstDash val="solid"/>
          </a:ln>
        </p:spPr>
      </p:sp>
      <p:sp>
        <p:nvSpPr>
          <p:cNvPr id="77" name="Shape 71"/>
          <p:cNvSpPr/>
          <p:nvPr/>
        </p:nvSpPr>
        <p:spPr>
          <a:xfrm flipV="1">
            <a:off x="9637182" y="3975811"/>
            <a:ext cx="444810" cy="51206"/>
          </a:xfrm>
          <a:prstGeom prst="line">
            <a:avLst/>
          </a:prstGeom>
          <a:noFill/>
          <a:ln w="25400">
            <a:solidFill>
              <a:srgbClr val="4FB3D0"/>
            </a:solidFill>
            <a:prstDash val="solid"/>
          </a:ln>
        </p:spPr>
      </p:sp>
      <p:sp>
        <p:nvSpPr>
          <p:cNvPr id="78" name="Shape 72"/>
          <p:cNvSpPr/>
          <p:nvPr/>
        </p:nvSpPr>
        <p:spPr>
          <a:xfrm flipV="1">
            <a:off x="10081992" y="3899002"/>
            <a:ext cx="593080" cy="76810"/>
          </a:xfrm>
          <a:prstGeom prst="line">
            <a:avLst/>
          </a:prstGeom>
          <a:noFill/>
          <a:ln w="25400">
            <a:solidFill>
              <a:srgbClr val="E4A24E"/>
            </a:solidFill>
            <a:prstDash val="dash"/>
          </a:ln>
        </p:spPr>
      </p:sp>
      <p:sp>
        <p:nvSpPr>
          <p:cNvPr id="79" name="Shape 73"/>
          <p:cNvSpPr/>
          <p:nvPr/>
        </p:nvSpPr>
        <p:spPr>
          <a:xfrm flipV="1">
            <a:off x="10675071" y="3822192"/>
            <a:ext cx="593080" cy="76810"/>
          </a:xfrm>
          <a:prstGeom prst="line">
            <a:avLst/>
          </a:prstGeom>
          <a:noFill/>
          <a:ln w="25400">
            <a:solidFill>
              <a:srgbClr val="E4A24E"/>
            </a:solidFill>
            <a:prstDash val="dash"/>
          </a:ln>
        </p:spPr>
      </p:sp>
      <p:sp>
        <p:nvSpPr>
          <p:cNvPr id="80" name="Shape 74"/>
          <p:cNvSpPr/>
          <p:nvPr/>
        </p:nvSpPr>
        <p:spPr>
          <a:xfrm>
            <a:off x="8270748" y="4187038"/>
            <a:ext cx="64008" cy="64008"/>
          </a:xfrm>
          <a:prstGeom prst="ellipse">
            <a:avLst/>
          </a:prstGeom>
          <a:solidFill>
            <a:srgbClr val="4FB3D0"/>
          </a:solidFill>
          <a:ln/>
        </p:spPr>
      </p:sp>
      <p:sp>
        <p:nvSpPr>
          <p:cNvPr id="81" name="Shape 75"/>
          <p:cNvSpPr/>
          <p:nvPr/>
        </p:nvSpPr>
        <p:spPr>
          <a:xfrm>
            <a:off x="8715558" y="4097426"/>
            <a:ext cx="64008" cy="64008"/>
          </a:xfrm>
          <a:prstGeom prst="ellipse">
            <a:avLst/>
          </a:prstGeom>
          <a:solidFill>
            <a:srgbClr val="4FB3D0"/>
          </a:solidFill>
          <a:ln/>
        </p:spPr>
      </p:sp>
      <p:sp>
        <p:nvSpPr>
          <p:cNvPr id="82" name="Shape 76"/>
          <p:cNvSpPr/>
          <p:nvPr/>
        </p:nvSpPr>
        <p:spPr>
          <a:xfrm>
            <a:off x="9160368" y="4135831"/>
            <a:ext cx="64008" cy="64008"/>
          </a:xfrm>
          <a:prstGeom prst="ellipse">
            <a:avLst/>
          </a:prstGeom>
          <a:solidFill>
            <a:srgbClr val="4FB3D0"/>
          </a:solidFill>
          <a:ln/>
        </p:spPr>
      </p:sp>
      <p:sp>
        <p:nvSpPr>
          <p:cNvPr id="83" name="Shape 77"/>
          <p:cNvSpPr/>
          <p:nvPr/>
        </p:nvSpPr>
        <p:spPr>
          <a:xfrm>
            <a:off x="9605178" y="3995014"/>
            <a:ext cx="64008" cy="64008"/>
          </a:xfrm>
          <a:prstGeom prst="ellipse">
            <a:avLst/>
          </a:prstGeom>
          <a:solidFill>
            <a:srgbClr val="4FB3D0"/>
          </a:solidFill>
          <a:ln/>
        </p:spPr>
      </p:sp>
      <p:sp>
        <p:nvSpPr>
          <p:cNvPr id="84" name="Shape 78"/>
          <p:cNvSpPr/>
          <p:nvPr/>
        </p:nvSpPr>
        <p:spPr>
          <a:xfrm>
            <a:off x="10049988" y="3943807"/>
            <a:ext cx="64008" cy="64008"/>
          </a:xfrm>
          <a:prstGeom prst="ellipse">
            <a:avLst/>
          </a:prstGeom>
          <a:solidFill>
            <a:srgbClr val="4FB3D0"/>
          </a:solidFill>
          <a:ln/>
        </p:spPr>
      </p:sp>
      <p:sp>
        <p:nvSpPr>
          <p:cNvPr id="85" name="Shape 79"/>
          <p:cNvSpPr/>
          <p:nvPr/>
        </p:nvSpPr>
        <p:spPr>
          <a:xfrm>
            <a:off x="10643067" y="3866998"/>
            <a:ext cx="64008" cy="64008"/>
          </a:xfrm>
          <a:prstGeom prst="ellipse">
            <a:avLst/>
          </a:prstGeom>
          <a:solidFill>
            <a:srgbClr val="E4A24E"/>
          </a:solidFill>
          <a:ln/>
        </p:spPr>
      </p:sp>
      <p:sp>
        <p:nvSpPr>
          <p:cNvPr id="86" name="Shape 80"/>
          <p:cNvSpPr/>
          <p:nvPr/>
        </p:nvSpPr>
        <p:spPr>
          <a:xfrm>
            <a:off x="11236147" y="3790188"/>
            <a:ext cx="64008" cy="64008"/>
          </a:xfrm>
          <a:prstGeom prst="ellipse">
            <a:avLst/>
          </a:prstGeom>
          <a:solidFill>
            <a:srgbClr val="E4A24E"/>
          </a:solidFill>
          <a:ln/>
        </p:spPr>
      </p:sp>
      <p:sp>
        <p:nvSpPr>
          <p:cNvPr id="87" name="Shape 81"/>
          <p:cNvSpPr/>
          <p:nvPr/>
        </p:nvSpPr>
        <p:spPr>
          <a:xfrm>
            <a:off x="8138160" y="4654296"/>
            <a:ext cx="1031138" cy="1024128"/>
          </a:xfrm>
          <a:prstGeom prst="roundRect">
            <a:avLst>
              <a:gd name="adj" fmla="val 4464"/>
            </a:avLst>
          </a:prstGeom>
          <a:solidFill>
            <a:srgbClr val="17304F"/>
          </a:solidFill>
          <a:ln w="12700">
            <a:solidFill>
              <a:srgbClr val="2A4E76"/>
            </a:solidFill>
            <a:prstDash val="solid"/>
          </a:ln>
        </p:spPr>
      </p:sp>
      <p:sp>
        <p:nvSpPr>
          <p:cNvPr id="88" name="Text 82"/>
          <p:cNvSpPr/>
          <p:nvPr/>
        </p:nvSpPr>
        <p:spPr>
          <a:xfrm>
            <a:off x="8229600" y="4727448"/>
            <a:ext cx="848258" cy="182880"/>
          </a:xfrm>
          <a:prstGeom prst="rect">
            <a:avLst/>
          </a:prstGeom>
          <a:noFill/>
          <a:ln/>
        </p:spPr>
        <p:txBody>
          <a:bodyPr wrap="square" lIns="0" tIns="0" rIns="0" bIns="0" rtlCol="0" anchor="t"/>
          <a:lstStyle/>
          <a:p>
            <a:pPr marL="0" indent="0" algn="l">
              <a:buNone/>
            </a:pPr>
            <a:r>
              <a:rPr lang="en-US" sz="700" b="1" dirty="0">
                <a:solidFill>
                  <a:srgbClr val="FFFFFF"/>
                </a:solidFill>
                <a:latin typeface="Calibri" pitchFamily="34" charset="0"/>
                <a:ea typeface="Calibri" pitchFamily="34" charset="-122"/>
                <a:cs typeface="Calibri" pitchFamily="34" charset="-120"/>
              </a:rPr>
              <a:t>Demand by Item</a:t>
            </a:r>
            <a:endParaRPr lang="en-US" sz="700" dirty="0"/>
          </a:p>
        </p:txBody>
      </p:sp>
      <p:sp>
        <p:nvSpPr>
          <p:cNvPr id="89" name="Shape 83"/>
          <p:cNvSpPr/>
          <p:nvPr/>
        </p:nvSpPr>
        <p:spPr>
          <a:xfrm>
            <a:off x="8247888" y="5239512"/>
            <a:ext cx="118872" cy="310896"/>
          </a:xfrm>
          <a:prstGeom prst="rect">
            <a:avLst/>
          </a:prstGeom>
          <a:solidFill>
            <a:srgbClr val="4FB3D0"/>
          </a:solidFill>
          <a:ln/>
        </p:spPr>
      </p:sp>
      <p:sp>
        <p:nvSpPr>
          <p:cNvPr id="90" name="Shape 84"/>
          <p:cNvSpPr/>
          <p:nvPr/>
        </p:nvSpPr>
        <p:spPr>
          <a:xfrm>
            <a:off x="8421091" y="5047488"/>
            <a:ext cx="118872" cy="502920"/>
          </a:xfrm>
          <a:prstGeom prst="rect">
            <a:avLst/>
          </a:prstGeom>
          <a:solidFill>
            <a:srgbClr val="4FB3D0"/>
          </a:solidFill>
          <a:ln/>
        </p:spPr>
      </p:sp>
      <p:sp>
        <p:nvSpPr>
          <p:cNvPr id="91" name="Shape 85"/>
          <p:cNvSpPr/>
          <p:nvPr/>
        </p:nvSpPr>
        <p:spPr>
          <a:xfrm>
            <a:off x="8594293" y="5166360"/>
            <a:ext cx="118872" cy="384048"/>
          </a:xfrm>
          <a:prstGeom prst="rect">
            <a:avLst/>
          </a:prstGeom>
          <a:solidFill>
            <a:srgbClr val="4FB3D0"/>
          </a:solidFill>
          <a:ln/>
        </p:spPr>
      </p:sp>
      <p:sp>
        <p:nvSpPr>
          <p:cNvPr id="92" name="Shape 86"/>
          <p:cNvSpPr/>
          <p:nvPr/>
        </p:nvSpPr>
        <p:spPr>
          <a:xfrm>
            <a:off x="8767496" y="4910328"/>
            <a:ext cx="118872" cy="640080"/>
          </a:xfrm>
          <a:prstGeom prst="rect">
            <a:avLst/>
          </a:prstGeom>
          <a:solidFill>
            <a:srgbClr val="E4A24E"/>
          </a:solidFill>
          <a:ln/>
        </p:spPr>
      </p:sp>
      <p:sp>
        <p:nvSpPr>
          <p:cNvPr id="93" name="Shape 87"/>
          <p:cNvSpPr/>
          <p:nvPr/>
        </p:nvSpPr>
        <p:spPr>
          <a:xfrm>
            <a:off x="8940698" y="5093208"/>
            <a:ext cx="118872" cy="457200"/>
          </a:xfrm>
          <a:prstGeom prst="rect">
            <a:avLst/>
          </a:prstGeom>
          <a:solidFill>
            <a:srgbClr val="4FB3D0"/>
          </a:solidFill>
          <a:ln/>
        </p:spPr>
      </p:sp>
      <p:sp>
        <p:nvSpPr>
          <p:cNvPr id="94" name="Shape 88"/>
          <p:cNvSpPr/>
          <p:nvPr/>
        </p:nvSpPr>
        <p:spPr>
          <a:xfrm>
            <a:off x="9260738" y="4654296"/>
            <a:ext cx="1031138" cy="1024128"/>
          </a:xfrm>
          <a:prstGeom prst="roundRect">
            <a:avLst>
              <a:gd name="adj" fmla="val 4464"/>
            </a:avLst>
          </a:prstGeom>
          <a:solidFill>
            <a:srgbClr val="17304F"/>
          </a:solidFill>
          <a:ln w="12700">
            <a:solidFill>
              <a:srgbClr val="2A4E76"/>
            </a:solidFill>
            <a:prstDash val="solid"/>
          </a:ln>
        </p:spPr>
      </p:sp>
      <p:sp>
        <p:nvSpPr>
          <p:cNvPr id="95" name="Text 89"/>
          <p:cNvSpPr/>
          <p:nvPr/>
        </p:nvSpPr>
        <p:spPr>
          <a:xfrm>
            <a:off x="9352178" y="4727448"/>
            <a:ext cx="848258" cy="182880"/>
          </a:xfrm>
          <a:prstGeom prst="rect">
            <a:avLst/>
          </a:prstGeom>
          <a:noFill/>
          <a:ln/>
        </p:spPr>
        <p:txBody>
          <a:bodyPr wrap="square" lIns="0" tIns="0" rIns="0" bIns="0" rtlCol="0" anchor="t"/>
          <a:lstStyle/>
          <a:p>
            <a:pPr marL="0" indent="0" algn="l">
              <a:buNone/>
            </a:pPr>
            <a:r>
              <a:rPr lang="en-US" sz="700" b="1" dirty="0">
                <a:solidFill>
                  <a:srgbClr val="FFFFFF"/>
                </a:solidFill>
                <a:latin typeface="Calibri" pitchFamily="34" charset="0"/>
                <a:ea typeface="Calibri" pitchFamily="34" charset="-122"/>
                <a:cs typeface="Calibri" pitchFamily="34" charset="-120"/>
              </a:rPr>
              <a:t>Model Results</a:t>
            </a:r>
            <a:endParaRPr lang="en-US" sz="700" dirty="0"/>
          </a:p>
        </p:txBody>
      </p:sp>
      <p:sp>
        <p:nvSpPr>
          <p:cNvPr id="96" name="Shape 90"/>
          <p:cNvSpPr/>
          <p:nvPr/>
        </p:nvSpPr>
        <p:spPr>
          <a:xfrm>
            <a:off x="9370466" y="4965192"/>
            <a:ext cx="457200" cy="73152"/>
          </a:xfrm>
          <a:prstGeom prst="rect">
            <a:avLst/>
          </a:prstGeom>
          <a:solidFill>
            <a:srgbClr val="3A557A"/>
          </a:solidFill>
          <a:ln/>
        </p:spPr>
      </p:sp>
      <p:sp>
        <p:nvSpPr>
          <p:cNvPr id="97" name="Shape 91"/>
          <p:cNvSpPr/>
          <p:nvPr/>
        </p:nvSpPr>
        <p:spPr>
          <a:xfrm>
            <a:off x="9919106" y="4965192"/>
            <a:ext cx="457200" cy="73152"/>
          </a:xfrm>
          <a:prstGeom prst="rect">
            <a:avLst/>
          </a:prstGeom>
          <a:solidFill>
            <a:srgbClr val="4FB3D0"/>
          </a:solidFill>
          <a:ln/>
        </p:spPr>
      </p:sp>
      <p:sp>
        <p:nvSpPr>
          <p:cNvPr id="98" name="Shape 92"/>
          <p:cNvSpPr/>
          <p:nvPr/>
        </p:nvSpPr>
        <p:spPr>
          <a:xfrm>
            <a:off x="9370466" y="5184648"/>
            <a:ext cx="457200" cy="73152"/>
          </a:xfrm>
          <a:prstGeom prst="rect">
            <a:avLst/>
          </a:prstGeom>
          <a:solidFill>
            <a:srgbClr val="3A557A"/>
          </a:solidFill>
          <a:ln/>
        </p:spPr>
      </p:sp>
      <p:sp>
        <p:nvSpPr>
          <p:cNvPr id="99" name="Shape 93"/>
          <p:cNvSpPr/>
          <p:nvPr/>
        </p:nvSpPr>
        <p:spPr>
          <a:xfrm>
            <a:off x="9919106" y="5184648"/>
            <a:ext cx="640080" cy="73152"/>
          </a:xfrm>
          <a:prstGeom prst="rect">
            <a:avLst/>
          </a:prstGeom>
          <a:solidFill>
            <a:srgbClr val="E4A24E"/>
          </a:solidFill>
          <a:ln/>
        </p:spPr>
      </p:sp>
      <p:sp>
        <p:nvSpPr>
          <p:cNvPr id="100" name="Shape 94"/>
          <p:cNvSpPr/>
          <p:nvPr/>
        </p:nvSpPr>
        <p:spPr>
          <a:xfrm>
            <a:off x="9370466" y="5404104"/>
            <a:ext cx="457200" cy="73152"/>
          </a:xfrm>
          <a:prstGeom prst="rect">
            <a:avLst/>
          </a:prstGeom>
          <a:solidFill>
            <a:srgbClr val="3A557A"/>
          </a:solidFill>
          <a:ln/>
        </p:spPr>
      </p:sp>
      <p:sp>
        <p:nvSpPr>
          <p:cNvPr id="101" name="Shape 95"/>
          <p:cNvSpPr/>
          <p:nvPr/>
        </p:nvSpPr>
        <p:spPr>
          <a:xfrm>
            <a:off x="9919106" y="5404104"/>
            <a:ext cx="320040" cy="73152"/>
          </a:xfrm>
          <a:prstGeom prst="rect">
            <a:avLst/>
          </a:prstGeom>
          <a:solidFill>
            <a:srgbClr val="4FB3D0"/>
          </a:solidFill>
          <a:ln/>
        </p:spPr>
      </p:sp>
      <p:sp>
        <p:nvSpPr>
          <p:cNvPr id="102" name="Shape 96"/>
          <p:cNvSpPr/>
          <p:nvPr/>
        </p:nvSpPr>
        <p:spPr>
          <a:xfrm>
            <a:off x="10383317" y="4654296"/>
            <a:ext cx="1031138" cy="1024128"/>
          </a:xfrm>
          <a:prstGeom prst="roundRect">
            <a:avLst>
              <a:gd name="adj" fmla="val 4464"/>
            </a:avLst>
          </a:prstGeom>
          <a:solidFill>
            <a:srgbClr val="17304F"/>
          </a:solidFill>
          <a:ln w="12700">
            <a:solidFill>
              <a:srgbClr val="2A4E76"/>
            </a:solidFill>
            <a:prstDash val="solid"/>
          </a:ln>
        </p:spPr>
      </p:sp>
      <p:sp>
        <p:nvSpPr>
          <p:cNvPr id="103" name="Text 97"/>
          <p:cNvSpPr/>
          <p:nvPr/>
        </p:nvSpPr>
        <p:spPr>
          <a:xfrm>
            <a:off x="10474757" y="4727448"/>
            <a:ext cx="848258" cy="182880"/>
          </a:xfrm>
          <a:prstGeom prst="rect">
            <a:avLst/>
          </a:prstGeom>
          <a:noFill/>
          <a:ln/>
        </p:spPr>
        <p:txBody>
          <a:bodyPr wrap="square" lIns="0" tIns="0" rIns="0" bIns="0" rtlCol="0" anchor="t"/>
          <a:lstStyle/>
          <a:p>
            <a:pPr marL="0" indent="0" algn="l">
              <a:buNone/>
            </a:pPr>
            <a:r>
              <a:rPr lang="en-US" sz="700" b="1" dirty="0">
                <a:solidFill>
                  <a:srgbClr val="FFFFFF"/>
                </a:solidFill>
                <a:latin typeface="Calibri" pitchFamily="34" charset="0"/>
                <a:ea typeface="Calibri" pitchFamily="34" charset="-122"/>
                <a:cs typeface="Calibri" pitchFamily="34" charset="-120"/>
              </a:rPr>
              <a:t>Recommendations</a:t>
            </a:r>
            <a:endParaRPr lang="en-US" sz="700" dirty="0"/>
          </a:p>
        </p:txBody>
      </p:sp>
      <p:sp>
        <p:nvSpPr>
          <p:cNvPr id="104" name="Shape 98"/>
          <p:cNvSpPr/>
          <p:nvPr/>
        </p:nvSpPr>
        <p:spPr>
          <a:xfrm>
            <a:off x="10493045" y="4988052"/>
            <a:ext cx="73152" cy="73152"/>
          </a:xfrm>
          <a:prstGeom prst="ellipse">
            <a:avLst/>
          </a:prstGeom>
          <a:solidFill>
            <a:srgbClr val="E4A24E"/>
          </a:solidFill>
          <a:ln/>
        </p:spPr>
      </p:sp>
      <p:sp>
        <p:nvSpPr>
          <p:cNvPr id="105" name="Shape 99"/>
          <p:cNvSpPr/>
          <p:nvPr/>
        </p:nvSpPr>
        <p:spPr>
          <a:xfrm>
            <a:off x="10621061" y="4992624"/>
            <a:ext cx="566928" cy="64008"/>
          </a:xfrm>
          <a:prstGeom prst="rect">
            <a:avLst/>
          </a:prstGeom>
          <a:solidFill>
            <a:srgbClr val="3A557A"/>
          </a:solidFill>
          <a:ln/>
        </p:spPr>
      </p:sp>
      <p:sp>
        <p:nvSpPr>
          <p:cNvPr id="106" name="Shape 100"/>
          <p:cNvSpPr/>
          <p:nvPr/>
        </p:nvSpPr>
        <p:spPr>
          <a:xfrm>
            <a:off x="10493045" y="5207508"/>
            <a:ext cx="73152" cy="73152"/>
          </a:xfrm>
          <a:prstGeom prst="ellipse">
            <a:avLst/>
          </a:prstGeom>
          <a:solidFill>
            <a:srgbClr val="E4A24E"/>
          </a:solidFill>
          <a:ln/>
        </p:spPr>
      </p:sp>
      <p:sp>
        <p:nvSpPr>
          <p:cNvPr id="107" name="Shape 101"/>
          <p:cNvSpPr/>
          <p:nvPr/>
        </p:nvSpPr>
        <p:spPr>
          <a:xfrm>
            <a:off x="10621061" y="5212080"/>
            <a:ext cx="457200" cy="64008"/>
          </a:xfrm>
          <a:prstGeom prst="rect">
            <a:avLst/>
          </a:prstGeom>
          <a:solidFill>
            <a:srgbClr val="3A557A"/>
          </a:solidFill>
          <a:ln/>
        </p:spPr>
      </p:sp>
      <p:sp>
        <p:nvSpPr>
          <p:cNvPr id="108" name="Shape 102"/>
          <p:cNvSpPr/>
          <p:nvPr/>
        </p:nvSpPr>
        <p:spPr>
          <a:xfrm>
            <a:off x="10493045" y="5426964"/>
            <a:ext cx="73152" cy="73152"/>
          </a:xfrm>
          <a:prstGeom prst="ellipse">
            <a:avLst/>
          </a:prstGeom>
          <a:solidFill>
            <a:srgbClr val="E4A24E"/>
          </a:solidFill>
          <a:ln/>
        </p:spPr>
      </p:sp>
      <p:sp>
        <p:nvSpPr>
          <p:cNvPr id="109" name="Shape 103"/>
          <p:cNvSpPr/>
          <p:nvPr/>
        </p:nvSpPr>
        <p:spPr>
          <a:xfrm>
            <a:off x="10621061" y="5431536"/>
            <a:ext cx="365760" cy="64008"/>
          </a:xfrm>
          <a:prstGeom prst="rect">
            <a:avLst/>
          </a:prstGeom>
          <a:solidFill>
            <a:srgbClr val="3A557A"/>
          </a:solidFill>
          <a:ln/>
        </p:spPr>
      </p:sp>
      <p:sp>
        <p:nvSpPr>
          <p:cNvPr id="110" name="Text 104"/>
          <p:cNvSpPr/>
          <p:nvPr/>
        </p:nvSpPr>
        <p:spPr>
          <a:xfrm>
            <a:off x="8138160" y="5733288"/>
            <a:ext cx="3276295" cy="219456"/>
          </a:xfrm>
          <a:prstGeom prst="rect">
            <a:avLst/>
          </a:prstGeom>
          <a:noFill/>
          <a:ln/>
        </p:spPr>
        <p:txBody>
          <a:bodyPr wrap="square" lIns="0" tIns="0" rIns="0" bIns="0" rtlCol="0" anchor="t"/>
          <a:lstStyle/>
          <a:p>
            <a:pPr marL="0" indent="0" algn="ctr">
              <a:buNone/>
            </a:pPr>
            <a:r>
              <a:rPr lang="en-US" sz="750" i="1" dirty="0">
                <a:solidFill>
                  <a:srgbClr val="93A0AD"/>
                </a:solidFill>
                <a:latin typeface="Calibri" pitchFamily="34" charset="0"/>
                <a:ea typeface="Calibri" pitchFamily="34" charset="-122"/>
                <a:cs typeface="Calibri" pitchFamily="34" charset="-120"/>
              </a:rPr>
              <a:t>Wireframe · shiny · plotly · DT — [DASHBOARD SCREENSHOT TO REPLACE]</a:t>
            </a:r>
            <a:endParaRPr lang="en-US" sz="750" dirty="0"/>
          </a:p>
        </p:txBody>
      </p:sp>
      <p:sp>
        <p:nvSpPr>
          <p:cNvPr id="111" name="Shape 105"/>
          <p:cNvSpPr/>
          <p:nvPr/>
        </p:nvSpPr>
        <p:spPr>
          <a:xfrm>
            <a:off x="3200400" y="3840480"/>
            <a:ext cx="457200" cy="0"/>
          </a:xfrm>
          <a:prstGeom prst="line">
            <a:avLst/>
          </a:prstGeom>
          <a:noFill/>
          <a:ln w="19050">
            <a:solidFill>
              <a:srgbClr val="93A0AD"/>
            </a:solidFill>
            <a:prstDash val="solid"/>
          </a:ln>
        </p:spPr>
      </p:sp>
      <p:sp>
        <p:nvSpPr>
          <p:cNvPr id="112" name="Shape 106"/>
          <p:cNvSpPr/>
          <p:nvPr/>
        </p:nvSpPr>
        <p:spPr>
          <a:xfrm>
            <a:off x="7498080" y="3840480"/>
            <a:ext cx="457200" cy="0"/>
          </a:xfrm>
          <a:prstGeom prst="line">
            <a:avLst/>
          </a:prstGeom>
          <a:noFill/>
          <a:ln w="19050">
            <a:solidFill>
              <a:srgbClr val="93A0AD"/>
            </a:solidFill>
            <a:prstDash val="solid"/>
          </a:ln>
        </p:spPr>
      </p:sp>
      <p:sp>
        <p:nvSpPr>
          <p:cNvPr id="113" name="Text 107"/>
          <p:cNvSpPr/>
          <p:nvPr/>
        </p:nvSpPr>
        <p:spPr>
          <a:xfrm>
            <a:off x="2788920" y="3566160"/>
            <a:ext cx="1280160" cy="219456"/>
          </a:xfrm>
          <a:prstGeom prst="rect">
            <a:avLst/>
          </a:prstGeom>
          <a:noFill/>
          <a:ln/>
        </p:spPr>
        <p:txBody>
          <a:bodyPr wrap="square" lIns="0" tIns="0" rIns="0" bIns="0" rtlCol="0" anchor="t"/>
          <a:lstStyle/>
          <a:p>
            <a:pPr marL="0" indent="0" algn="ctr">
              <a:buNone/>
            </a:pPr>
            <a:r>
              <a:rPr lang="en-US" sz="900" b="1" dirty="0">
                <a:solidFill>
                  <a:srgbClr val="5F6A78"/>
                </a:solidFill>
                <a:latin typeface="Calibri" pitchFamily="34" charset="0"/>
                <a:ea typeface="Calibri" pitchFamily="34" charset="-122"/>
                <a:cs typeface="Calibri" pitchFamily="34" charset="-120"/>
              </a:rPr>
              <a:t>feeds</a:t>
            </a:r>
            <a:endParaRPr lang="en-US" sz="900" dirty="0"/>
          </a:p>
        </p:txBody>
      </p:sp>
      <p:sp>
        <p:nvSpPr>
          <p:cNvPr id="114" name="Text 108"/>
          <p:cNvSpPr/>
          <p:nvPr/>
        </p:nvSpPr>
        <p:spPr>
          <a:xfrm>
            <a:off x="7086600" y="3566160"/>
            <a:ext cx="1280160" cy="219456"/>
          </a:xfrm>
          <a:prstGeom prst="rect">
            <a:avLst/>
          </a:prstGeom>
          <a:noFill/>
          <a:ln/>
        </p:spPr>
        <p:txBody>
          <a:bodyPr wrap="square" lIns="0" tIns="0" rIns="0" bIns="0" rtlCol="0" anchor="t"/>
          <a:lstStyle/>
          <a:p>
            <a:pPr marL="0" indent="0" algn="ctr">
              <a:buNone/>
            </a:pPr>
            <a:r>
              <a:rPr lang="en-US" sz="900" b="1" dirty="0">
                <a:solidFill>
                  <a:srgbClr val="5F6A78"/>
                </a:solidFill>
                <a:latin typeface="Calibri" pitchFamily="34" charset="0"/>
                <a:ea typeface="Calibri" pitchFamily="34" charset="-122"/>
                <a:cs typeface="Calibri" pitchFamily="34" charset="-120"/>
              </a:rPr>
              <a:t>informs</a:t>
            </a:r>
            <a:endParaRPr lang="en-US" sz="900" dirty="0"/>
          </a:p>
        </p:txBody>
      </p:sp>
      <p:sp>
        <p:nvSpPr>
          <p:cNvPr id="115" name="Text 109"/>
          <p:cNvSpPr/>
          <p:nvPr/>
        </p:nvSpPr>
        <p:spPr>
          <a:xfrm>
            <a:off x="594360" y="6126480"/>
            <a:ext cx="11002975" cy="292608"/>
          </a:xfrm>
          <a:prstGeom prst="rect">
            <a:avLst/>
          </a:prstGeom>
          <a:noFill/>
          <a:ln/>
        </p:spPr>
        <p:txBody>
          <a:bodyPr wrap="square" lIns="0" tIns="0" rIns="0" bIns="0" rtlCol="0" anchor="t"/>
          <a:lstStyle/>
          <a:p>
            <a:pPr marL="0" indent="0" algn="ctr">
              <a:buNone/>
            </a:pPr>
            <a:r>
              <a:rPr lang="en-US" sz="1250" b="1" kern="0" spc="50" dirty="0">
                <a:solidFill>
                  <a:srgbClr val="142A4C"/>
                </a:solidFill>
                <a:latin typeface="Calibri" pitchFamily="34" charset="0"/>
                <a:ea typeface="Calibri" pitchFamily="34" charset="-122"/>
                <a:cs typeface="Calibri" pitchFamily="34" charset="-120"/>
              </a:rPr>
              <a:t>Historical Data   +   Analytics &amp; Machine Learning   →   Decision Support</a:t>
            </a:r>
            <a:endParaRPr lang="en-US" sz="1250" dirty="0"/>
          </a:p>
        </p:txBody>
      </p:sp>
      <p:sp>
        <p:nvSpPr>
          <p:cNvPr id="116" name="Shape 110"/>
          <p:cNvSpPr/>
          <p:nvPr/>
        </p:nvSpPr>
        <p:spPr>
          <a:xfrm>
            <a:off x="594360" y="6327648"/>
            <a:ext cx="11002975" cy="0"/>
          </a:xfrm>
          <a:prstGeom prst="line">
            <a:avLst/>
          </a:prstGeom>
          <a:noFill/>
          <a:ln w="9525">
            <a:solidFill>
              <a:srgbClr val="E5E9EF"/>
            </a:solidFill>
            <a:prstDash val="solid"/>
          </a:ln>
        </p:spPr>
      </p:sp>
      <p:sp>
        <p:nvSpPr>
          <p:cNvPr id="117" name="Text 111"/>
          <p:cNvSpPr/>
          <p:nvPr/>
        </p:nvSpPr>
        <p:spPr>
          <a:xfrm>
            <a:off x="594360" y="6400800"/>
            <a:ext cx="7772400" cy="274320"/>
          </a:xfrm>
          <a:prstGeom prst="rect">
            <a:avLst/>
          </a:prstGeom>
          <a:noFill/>
          <a:ln/>
        </p:spPr>
        <p:txBody>
          <a:bodyPr wrap="square" lIns="0" tIns="0" rIns="0" bIns="0" rtlCol="0" anchor="t"/>
          <a:lstStyle/>
          <a:p>
            <a:pPr marL="0" indent="0" algn="l">
              <a:buNone/>
            </a:pPr>
            <a:r>
              <a:rPr lang="en-US" sz="850" kern="0" spc="50" dirty="0">
                <a:solidFill>
                  <a:srgbClr val="93A0AD"/>
                </a:solidFill>
                <a:latin typeface="Calibri" pitchFamily="34" charset="0"/>
                <a:ea typeface="Calibri" pitchFamily="34" charset="-122"/>
                <a:cs typeface="Calibri" pitchFamily="34" charset="-120"/>
              </a:rPr>
              <a:t>Restaurant Sales Analytics &amp; Demand Prediction</a:t>
            </a:r>
            <a:endParaRPr lang="en-US" sz="850" dirty="0"/>
          </a:p>
        </p:txBody>
      </p:sp>
      <p:sp>
        <p:nvSpPr>
          <p:cNvPr id="118" name="Text 112"/>
          <p:cNvSpPr/>
          <p:nvPr/>
        </p:nvSpPr>
        <p:spPr>
          <a:xfrm>
            <a:off x="6110935" y="6400800"/>
            <a:ext cx="4937760" cy="274320"/>
          </a:xfrm>
          <a:prstGeom prst="rect">
            <a:avLst/>
          </a:prstGeom>
          <a:noFill/>
          <a:ln/>
        </p:spPr>
        <p:txBody>
          <a:bodyPr wrap="square" lIns="0" tIns="0" rIns="0" bIns="0" rtlCol="0" anchor="t"/>
          <a:lstStyle/>
          <a:p>
            <a:pPr marL="0" indent="0" algn="r">
              <a:buNone/>
            </a:pPr>
            <a:r>
              <a:rPr lang="en-US" sz="850" dirty="0">
                <a:solidFill>
                  <a:srgbClr val="93A0AD"/>
                </a:solidFill>
                <a:latin typeface="Calibri" pitchFamily="34" charset="0"/>
                <a:ea typeface="Calibri" pitchFamily="34" charset="-122"/>
                <a:cs typeface="Calibri" pitchFamily="34" charset="-120"/>
              </a:rPr>
              <a:t>Data: [DATASET SOURCE &amp; SIZE NEEDED]</a:t>
            </a:r>
            <a:endParaRPr lang="en-US" sz="850" dirty="0"/>
          </a:p>
        </p:txBody>
      </p:sp>
      <p:sp>
        <p:nvSpPr>
          <p:cNvPr id="119" name="Text 113"/>
          <p:cNvSpPr/>
          <p:nvPr/>
        </p:nvSpPr>
        <p:spPr>
          <a:xfrm>
            <a:off x="11048695" y="6400800"/>
            <a:ext cx="548640" cy="274320"/>
          </a:xfrm>
          <a:prstGeom prst="rect">
            <a:avLst/>
          </a:prstGeom>
          <a:noFill/>
          <a:ln/>
        </p:spPr>
        <p:txBody>
          <a:bodyPr wrap="square" lIns="0" tIns="0" rIns="0" bIns="0" rtlCol="0" anchor="t"/>
          <a:lstStyle/>
          <a:p>
            <a:pPr marL="0" indent="0" algn="r">
              <a:buNone/>
            </a:pPr>
            <a:r>
              <a:rPr lang="en-US" sz="850" b="1" dirty="0">
                <a:solidFill>
                  <a:srgbClr val="5F6A78"/>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t"/>
          <a:lstStyle/>
          <a:p>
            <a:pPr marL="0" indent="0" algn="l">
              <a:buNone/>
            </a:pPr>
            <a:r>
              <a:rPr lang="en-US" sz="1100" b="1" kern="0" spc="200" dirty="0">
                <a:solidFill>
                  <a:srgbClr val="17788F"/>
                </a:solidFill>
                <a:latin typeface="Calibri" pitchFamily="34" charset="0"/>
                <a:ea typeface="Calibri" pitchFamily="34" charset="-122"/>
                <a:cs typeface="Calibri" pitchFamily="34" charset="-120"/>
              </a:rPr>
              <a:t>OUTCOMES</a:t>
            </a:r>
            <a:endParaRPr lang="en-US" sz="1100" dirty="0"/>
          </a:p>
        </p:txBody>
      </p:sp>
      <p:sp>
        <p:nvSpPr>
          <p:cNvPr id="3" name="Text 1"/>
          <p:cNvSpPr/>
          <p:nvPr/>
        </p:nvSpPr>
        <p:spPr>
          <a:xfrm>
            <a:off x="594360" y="749808"/>
            <a:ext cx="11002975" cy="603504"/>
          </a:xfrm>
          <a:prstGeom prst="rect">
            <a:avLst/>
          </a:prstGeom>
          <a:noFill/>
          <a:ln/>
        </p:spPr>
        <p:txBody>
          <a:bodyPr wrap="square" lIns="0" tIns="0" rIns="0" bIns="0" rtlCol="0" anchor="t"/>
          <a:lstStyle/>
          <a:p>
            <a:pPr marL="0" indent="0" algn="l">
              <a:buNone/>
            </a:pPr>
            <a:r>
              <a:rPr lang="en-US" sz="2700" b="1" dirty="0">
                <a:solidFill>
                  <a:srgbClr val="1B2430"/>
                </a:solidFill>
                <a:latin typeface="Cambria" pitchFamily="34" charset="0"/>
                <a:ea typeface="Cambria" pitchFamily="34" charset="-122"/>
                <a:cs typeface="Cambria" pitchFamily="34" charset="-120"/>
              </a:rPr>
              <a:t>Five deliverables converge on one decision-support tool</a:t>
            </a:r>
            <a:endParaRPr lang="en-US" sz="2700" dirty="0"/>
          </a:p>
        </p:txBody>
      </p:sp>
      <p:sp>
        <p:nvSpPr>
          <p:cNvPr id="4" name="Text 2"/>
          <p:cNvSpPr/>
          <p:nvPr/>
        </p:nvSpPr>
        <p:spPr>
          <a:xfrm>
            <a:off x="594360" y="1371600"/>
            <a:ext cx="11002975" cy="365760"/>
          </a:xfrm>
          <a:prstGeom prst="rect">
            <a:avLst/>
          </a:prstGeom>
          <a:noFill/>
          <a:ln/>
        </p:spPr>
        <p:txBody>
          <a:bodyPr wrap="square" lIns="0" tIns="0" rIns="0" bIns="0" rtlCol="0" anchor="t"/>
          <a:lstStyle/>
          <a:p>
            <a:pPr marL="0" indent="0" algn="l">
              <a:lnSpc>
                <a:spcPts val="1700"/>
              </a:lnSpc>
              <a:buNone/>
            </a:pPr>
            <a:r>
              <a:rPr lang="en-US" sz="1350" dirty="0">
                <a:solidFill>
                  <a:srgbClr val="5F6A78"/>
                </a:solidFill>
                <a:latin typeface="Calibri" pitchFamily="34" charset="0"/>
                <a:ea typeface="Calibri" pitchFamily="34" charset="-122"/>
                <a:cs typeface="Calibri" pitchFamily="34" charset="-120"/>
              </a:rPr>
              <a:t>Four analytical and predictive outputs, surfaced through a single interactive R Shiny dashboard.</a:t>
            </a:r>
            <a:endParaRPr lang="en-US" sz="1350" dirty="0"/>
          </a:p>
        </p:txBody>
      </p:sp>
      <p:sp>
        <p:nvSpPr>
          <p:cNvPr id="5" name="Shape 3"/>
          <p:cNvSpPr/>
          <p:nvPr/>
        </p:nvSpPr>
        <p:spPr>
          <a:xfrm>
            <a:off x="594360" y="1965960"/>
            <a:ext cx="2545004" cy="2148840"/>
          </a:xfrm>
          <a:prstGeom prst="roundRect">
            <a:avLst>
              <a:gd name="adj" fmla="val 2128"/>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6" name="Text 4"/>
          <p:cNvSpPr/>
          <p:nvPr/>
        </p:nvSpPr>
        <p:spPr>
          <a:xfrm>
            <a:off x="832104" y="2167128"/>
            <a:ext cx="731520" cy="320040"/>
          </a:xfrm>
          <a:prstGeom prst="rect">
            <a:avLst/>
          </a:prstGeom>
          <a:noFill/>
          <a:ln/>
        </p:spPr>
        <p:txBody>
          <a:bodyPr wrap="square" lIns="0" tIns="0" rIns="0" bIns="0" rtlCol="0" anchor="t"/>
          <a:lstStyle/>
          <a:p>
            <a:pPr marL="0" indent="0" algn="l">
              <a:buNone/>
            </a:pPr>
            <a:r>
              <a:rPr lang="en-US" sz="1800" b="1" dirty="0">
                <a:solidFill>
                  <a:srgbClr val="17788F"/>
                </a:solidFill>
                <a:latin typeface="Cambria" pitchFamily="34" charset="0"/>
                <a:ea typeface="Cambria" pitchFamily="34" charset="-122"/>
                <a:cs typeface="Cambria" pitchFamily="34" charset="-120"/>
              </a:rPr>
              <a:t>01</a:t>
            </a:r>
            <a:endParaRPr lang="en-US" sz="1800" dirty="0"/>
          </a:p>
        </p:txBody>
      </p:sp>
      <p:sp>
        <p:nvSpPr>
          <p:cNvPr id="7" name="Shape 5"/>
          <p:cNvSpPr/>
          <p:nvPr/>
        </p:nvSpPr>
        <p:spPr>
          <a:xfrm>
            <a:off x="1565110" y="2596896"/>
            <a:ext cx="603504" cy="603504"/>
          </a:xfrm>
          <a:prstGeom prst="ellipse">
            <a:avLst/>
          </a:prstGeom>
          <a:solidFill>
            <a:srgbClr val="17788F"/>
          </a:solidFill>
          <a:ln/>
        </p:spPr>
      </p:sp>
      <p:pic>
        <p:nvPicPr>
          <p:cNvPr id="8" name="Image 0" descr="/home/claude/deck/icons/barchart.png"/>
          <p:cNvPicPr>
            <a:picLocks noChangeAspect="1"/>
          </p:cNvPicPr>
          <p:nvPr/>
        </p:nvPicPr>
        <p:blipFill>
          <a:blip r:embed="rId3"/>
          <a:stretch>
            <a:fillRect/>
          </a:stretch>
        </p:blipFill>
        <p:spPr>
          <a:xfrm>
            <a:off x="1715986" y="2747772"/>
            <a:ext cx="301752" cy="301752"/>
          </a:xfrm>
          <a:prstGeom prst="rect">
            <a:avLst/>
          </a:prstGeom>
        </p:spPr>
      </p:pic>
      <p:sp>
        <p:nvSpPr>
          <p:cNvPr id="9" name="Text 6"/>
          <p:cNvSpPr/>
          <p:nvPr/>
        </p:nvSpPr>
        <p:spPr>
          <a:xfrm>
            <a:off x="758952" y="3264408"/>
            <a:ext cx="2215820" cy="457200"/>
          </a:xfrm>
          <a:prstGeom prst="rect">
            <a:avLst/>
          </a:prstGeom>
          <a:noFill/>
          <a:ln/>
        </p:spPr>
        <p:txBody>
          <a:bodyPr wrap="square" lIns="0" tIns="0" rIns="0" bIns="0" rtlCol="0" anchor="t"/>
          <a:lstStyle/>
          <a:p>
            <a:pPr marL="0" indent="0" algn="ctr">
              <a:buNone/>
            </a:pPr>
            <a:r>
              <a:rPr lang="en-US" sz="1250" b="1" dirty="0">
                <a:solidFill>
                  <a:srgbClr val="1B2430"/>
                </a:solidFill>
                <a:latin typeface="Calibri" pitchFamily="34" charset="0"/>
                <a:ea typeface="Calibri" pitchFamily="34" charset="-122"/>
                <a:cs typeface="Calibri" pitchFamily="34" charset="-120"/>
              </a:rPr>
              <a:t>Sales Analytics</a:t>
            </a:r>
            <a:endParaRPr lang="en-US" sz="1250" dirty="0"/>
          </a:p>
        </p:txBody>
      </p:sp>
      <p:sp>
        <p:nvSpPr>
          <p:cNvPr id="10" name="Text 7"/>
          <p:cNvSpPr/>
          <p:nvPr/>
        </p:nvSpPr>
        <p:spPr>
          <a:xfrm>
            <a:off x="777240" y="3703320"/>
            <a:ext cx="2179244" cy="365760"/>
          </a:xfrm>
          <a:prstGeom prst="rect">
            <a:avLst/>
          </a:prstGeom>
          <a:noFill/>
          <a:ln/>
        </p:spPr>
        <p:txBody>
          <a:bodyPr wrap="square" lIns="0" tIns="0" rIns="0" bIns="0" rtlCol="0" anchor="t"/>
          <a:lstStyle/>
          <a:p>
            <a:pPr marL="0" indent="0" algn="ctr">
              <a:buNone/>
            </a:pPr>
            <a:r>
              <a:rPr lang="en-US" sz="950" dirty="0">
                <a:solidFill>
                  <a:srgbClr val="5F6A78"/>
                </a:solidFill>
                <a:latin typeface="Calibri" pitchFamily="34" charset="0"/>
                <a:ea typeface="Calibri" pitchFamily="34" charset="-122"/>
                <a:cs typeface="Calibri" pitchFamily="34" charset="-120"/>
              </a:rPr>
              <a:t>Trends by item, day and hour — dplyr, ggplot2.</a:t>
            </a:r>
            <a:endParaRPr lang="en-US" sz="950" dirty="0"/>
          </a:p>
        </p:txBody>
      </p:sp>
      <p:sp>
        <p:nvSpPr>
          <p:cNvPr id="11" name="Shape 8"/>
          <p:cNvSpPr/>
          <p:nvPr/>
        </p:nvSpPr>
        <p:spPr>
          <a:xfrm>
            <a:off x="3413684" y="1965960"/>
            <a:ext cx="2545004" cy="2148840"/>
          </a:xfrm>
          <a:prstGeom prst="roundRect">
            <a:avLst>
              <a:gd name="adj" fmla="val 2128"/>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12" name="Text 9"/>
          <p:cNvSpPr/>
          <p:nvPr/>
        </p:nvSpPr>
        <p:spPr>
          <a:xfrm>
            <a:off x="3651428" y="2167128"/>
            <a:ext cx="731520" cy="320040"/>
          </a:xfrm>
          <a:prstGeom prst="rect">
            <a:avLst/>
          </a:prstGeom>
          <a:noFill/>
          <a:ln/>
        </p:spPr>
        <p:txBody>
          <a:bodyPr wrap="square" lIns="0" tIns="0" rIns="0" bIns="0" rtlCol="0" anchor="t"/>
          <a:lstStyle/>
          <a:p>
            <a:pPr marL="0" indent="0" algn="l">
              <a:buNone/>
            </a:pPr>
            <a:r>
              <a:rPr lang="en-US" sz="1800" b="1" dirty="0">
                <a:solidFill>
                  <a:srgbClr val="17788F"/>
                </a:solidFill>
                <a:latin typeface="Cambria" pitchFamily="34" charset="0"/>
                <a:ea typeface="Cambria" pitchFamily="34" charset="-122"/>
                <a:cs typeface="Cambria" pitchFamily="34" charset="-120"/>
              </a:rPr>
              <a:t>02</a:t>
            </a:r>
            <a:endParaRPr lang="en-US" sz="1800" dirty="0"/>
          </a:p>
        </p:txBody>
      </p:sp>
      <p:sp>
        <p:nvSpPr>
          <p:cNvPr id="13" name="Shape 10"/>
          <p:cNvSpPr/>
          <p:nvPr/>
        </p:nvSpPr>
        <p:spPr>
          <a:xfrm>
            <a:off x="4384434" y="2596896"/>
            <a:ext cx="603504" cy="603504"/>
          </a:xfrm>
          <a:prstGeom prst="ellipse">
            <a:avLst/>
          </a:prstGeom>
          <a:solidFill>
            <a:srgbClr val="17788F"/>
          </a:solidFill>
          <a:ln/>
        </p:spPr>
      </p:sp>
      <p:pic>
        <p:nvPicPr>
          <p:cNvPr id="14" name="Image 1" descr="/home/claude/deck/icons/cart.png"/>
          <p:cNvPicPr>
            <a:picLocks noChangeAspect="1"/>
          </p:cNvPicPr>
          <p:nvPr/>
        </p:nvPicPr>
        <p:blipFill>
          <a:blip r:embed="rId4"/>
          <a:stretch>
            <a:fillRect/>
          </a:stretch>
        </p:blipFill>
        <p:spPr>
          <a:xfrm>
            <a:off x="4535310" y="2747772"/>
            <a:ext cx="301752" cy="301752"/>
          </a:xfrm>
          <a:prstGeom prst="rect">
            <a:avLst/>
          </a:prstGeom>
        </p:spPr>
      </p:pic>
      <p:sp>
        <p:nvSpPr>
          <p:cNvPr id="15" name="Text 11"/>
          <p:cNvSpPr/>
          <p:nvPr/>
        </p:nvSpPr>
        <p:spPr>
          <a:xfrm>
            <a:off x="3578276" y="3264408"/>
            <a:ext cx="2215820" cy="457200"/>
          </a:xfrm>
          <a:prstGeom prst="rect">
            <a:avLst/>
          </a:prstGeom>
          <a:noFill/>
          <a:ln/>
        </p:spPr>
        <p:txBody>
          <a:bodyPr wrap="square" lIns="0" tIns="0" rIns="0" bIns="0" rtlCol="0" anchor="t"/>
          <a:lstStyle/>
          <a:p>
            <a:pPr marL="0" indent="0" algn="ctr">
              <a:buNone/>
            </a:pPr>
            <a:r>
              <a:rPr lang="en-US" sz="1250" b="1" dirty="0">
                <a:solidFill>
                  <a:srgbClr val="1B2430"/>
                </a:solidFill>
                <a:latin typeface="Calibri" pitchFamily="34" charset="0"/>
                <a:ea typeface="Calibri" pitchFamily="34" charset="-122"/>
                <a:cs typeface="Calibri" pitchFamily="34" charset="-120"/>
              </a:rPr>
              <a:t>Customer Order Analysis</a:t>
            </a:r>
            <a:endParaRPr lang="en-US" sz="1250" dirty="0"/>
          </a:p>
        </p:txBody>
      </p:sp>
      <p:sp>
        <p:nvSpPr>
          <p:cNvPr id="16" name="Text 12"/>
          <p:cNvSpPr/>
          <p:nvPr/>
        </p:nvSpPr>
        <p:spPr>
          <a:xfrm>
            <a:off x="3596564" y="3703320"/>
            <a:ext cx="2179244" cy="365760"/>
          </a:xfrm>
          <a:prstGeom prst="rect">
            <a:avLst/>
          </a:prstGeom>
          <a:noFill/>
          <a:ln/>
        </p:spPr>
        <p:txBody>
          <a:bodyPr wrap="square" lIns="0" tIns="0" rIns="0" bIns="0" rtlCol="0" anchor="t"/>
          <a:lstStyle/>
          <a:p>
            <a:pPr marL="0" indent="0" algn="ctr">
              <a:buNone/>
            </a:pPr>
            <a:r>
              <a:rPr lang="en-US" sz="950" dirty="0">
                <a:solidFill>
                  <a:srgbClr val="5F6A78"/>
                </a:solidFill>
                <a:latin typeface="Calibri" pitchFamily="34" charset="0"/>
                <a:ea typeface="Calibri" pitchFamily="34" charset="-122"/>
                <a:cs typeface="Calibri" pitchFamily="34" charset="-120"/>
              </a:rPr>
              <a:t>Top items, basket size, ordering behavior.</a:t>
            </a:r>
            <a:endParaRPr lang="en-US" sz="950" dirty="0"/>
          </a:p>
        </p:txBody>
      </p:sp>
      <p:sp>
        <p:nvSpPr>
          <p:cNvPr id="17" name="Shape 13"/>
          <p:cNvSpPr/>
          <p:nvPr/>
        </p:nvSpPr>
        <p:spPr>
          <a:xfrm>
            <a:off x="6233008" y="1965960"/>
            <a:ext cx="2545004" cy="2148840"/>
          </a:xfrm>
          <a:prstGeom prst="roundRect">
            <a:avLst>
              <a:gd name="adj" fmla="val 2128"/>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18" name="Text 14"/>
          <p:cNvSpPr/>
          <p:nvPr/>
        </p:nvSpPr>
        <p:spPr>
          <a:xfrm>
            <a:off x="6470752" y="2167128"/>
            <a:ext cx="731520" cy="320040"/>
          </a:xfrm>
          <a:prstGeom prst="rect">
            <a:avLst/>
          </a:prstGeom>
          <a:noFill/>
          <a:ln/>
        </p:spPr>
        <p:txBody>
          <a:bodyPr wrap="square" lIns="0" tIns="0" rIns="0" bIns="0" rtlCol="0" anchor="t"/>
          <a:lstStyle/>
          <a:p>
            <a:pPr marL="0" indent="0" algn="l">
              <a:buNone/>
            </a:pPr>
            <a:r>
              <a:rPr lang="en-US" sz="1800" b="1" dirty="0">
                <a:solidFill>
                  <a:srgbClr val="C68A38"/>
                </a:solidFill>
                <a:latin typeface="Cambria" pitchFamily="34" charset="0"/>
                <a:ea typeface="Cambria" pitchFamily="34" charset="-122"/>
                <a:cs typeface="Cambria" pitchFamily="34" charset="-120"/>
              </a:rPr>
              <a:t>03</a:t>
            </a:r>
            <a:endParaRPr lang="en-US" sz="1800" dirty="0"/>
          </a:p>
        </p:txBody>
      </p:sp>
      <p:sp>
        <p:nvSpPr>
          <p:cNvPr id="19" name="Shape 15"/>
          <p:cNvSpPr/>
          <p:nvPr/>
        </p:nvSpPr>
        <p:spPr>
          <a:xfrm>
            <a:off x="7203757" y="2596896"/>
            <a:ext cx="603504" cy="603504"/>
          </a:xfrm>
          <a:prstGeom prst="ellipse">
            <a:avLst/>
          </a:prstGeom>
          <a:solidFill>
            <a:srgbClr val="C68A38"/>
          </a:solidFill>
          <a:ln/>
        </p:spPr>
      </p:sp>
      <p:pic>
        <p:nvPicPr>
          <p:cNvPr id="20" name="Image 2" descr="/home/claude/deck/icons/trendingup.png"/>
          <p:cNvPicPr>
            <a:picLocks noChangeAspect="1"/>
          </p:cNvPicPr>
          <p:nvPr/>
        </p:nvPicPr>
        <p:blipFill>
          <a:blip r:embed="rId5"/>
          <a:stretch>
            <a:fillRect/>
          </a:stretch>
        </p:blipFill>
        <p:spPr>
          <a:xfrm>
            <a:off x="7354634" y="2747772"/>
            <a:ext cx="301752" cy="301752"/>
          </a:xfrm>
          <a:prstGeom prst="rect">
            <a:avLst/>
          </a:prstGeom>
        </p:spPr>
      </p:pic>
      <p:sp>
        <p:nvSpPr>
          <p:cNvPr id="21" name="Text 16"/>
          <p:cNvSpPr/>
          <p:nvPr/>
        </p:nvSpPr>
        <p:spPr>
          <a:xfrm>
            <a:off x="6397600" y="3264408"/>
            <a:ext cx="2215820" cy="457200"/>
          </a:xfrm>
          <a:prstGeom prst="rect">
            <a:avLst/>
          </a:prstGeom>
          <a:noFill/>
          <a:ln/>
        </p:spPr>
        <p:txBody>
          <a:bodyPr wrap="square" lIns="0" tIns="0" rIns="0" bIns="0" rtlCol="0" anchor="t"/>
          <a:lstStyle/>
          <a:p>
            <a:pPr marL="0" indent="0" algn="ctr">
              <a:buNone/>
            </a:pPr>
            <a:r>
              <a:rPr lang="en-US" sz="1250" b="1" dirty="0">
                <a:solidFill>
                  <a:srgbClr val="1B2430"/>
                </a:solidFill>
                <a:latin typeface="Calibri" pitchFamily="34" charset="0"/>
                <a:ea typeface="Calibri" pitchFamily="34" charset="-122"/>
                <a:cs typeface="Calibri" pitchFamily="34" charset="-120"/>
              </a:rPr>
              <a:t>Food Demand Prediction</a:t>
            </a:r>
            <a:endParaRPr lang="en-US" sz="1250" dirty="0"/>
          </a:p>
        </p:txBody>
      </p:sp>
      <p:sp>
        <p:nvSpPr>
          <p:cNvPr id="22" name="Text 17"/>
          <p:cNvSpPr/>
          <p:nvPr/>
        </p:nvSpPr>
        <p:spPr>
          <a:xfrm>
            <a:off x="6415888" y="3703320"/>
            <a:ext cx="2179244" cy="365760"/>
          </a:xfrm>
          <a:prstGeom prst="rect">
            <a:avLst/>
          </a:prstGeom>
          <a:noFill/>
          <a:ln/>
        </p:spPr>
        <p:txBody>
          <a:bodyPr wrap="square" lIns="0" tIns="0" rIns="0" bIns="0" rtlCol="0" anchor="t"/>
          <a:lstStyle/>
          <a:p>
            <a:pPr marL="0" indent="0" algn="ctr">
              <a:buNone/>
            </a:pPr>
            <a:r>
              <a:rPr lang="en-US" sz="950" dirty="0">
                <a:solidFill>
                  <a:srgbClr val="5F6A78"/>
                </a:solidFill>
                <a:latin typeface="Calibri" pitchFamily="34" charset="0"/>
                <a:ea typeface="Calibri" pitchFamily="34" charset="-122"/>
                <a:cs typeface="Calibri" pitchFamily="34" charset="-120"/>
              </a:rPr>
              <a:t>Item-level forecasts — caret / tidymodels.</a:t>
            </a:r>
            <a:endParaRPr lang="en-US" sz="950" dirty="0"/>
          </a:p>
        </p:txBody>
      </p:sp>
      <p:sp>
        <p:nvSpPr>
          <p:cNvPr id="23" name="Shape 18"/>
          <p:cNvSpPr/>
          <p:nvPr/>
        </p:nvSpPr>
        <p:spPr>
          <a:xfrm>
            <a:off x="9052331" y="1965960"/>
            <a:ext cx="2545004" cy="2148840"/>
          </a:xfrm>
          <a:prstGeom prst="roundRect">
            <a:avLst>
              <a:gd name="adj" fmla="val 2128"/>
            </a:avLst>
          </a:prstGeom>
          <a:solidFill>
            <a:srgbClr val="FFFFFF"/>
          </a:solidFill>
          <a:ln w="15875">
            <a:solidFill>
              <a:srgbClr val="E5E9EF"/>
            </a:solidFill>
            <a:prstDash val="solid"/>
          </a:ln>
          <a:effectLst>
            <a:outerShdw blurRad="88900" dist="25400" dir="5400000" algn="bl" rotWithShape="0">
              <a:srgbClr val="142A4C">
                <a:alpha val="10000"/>
              </a:srgbClr>
            </a:outerShdw>
          </a:effectLst>
        </p:spPr>
      </p:sp>
      <p:sp>
        <p:nvSpPr>
          <p:cNvPr id="24" name="Text 19"/>
          <p:cNvSpPr/>
          <p:nvPr/>
        </p:nvSpPr>
        <p:spPr>
          <a:xfrm>
            <a:off x="9290075" y="2167128"/>
            <a:ext cx="731520" cy="320040"/>
          </a:xfrm>
          <a:prstGeom prst="rect">
            <a:avLst/>
          </a:prstGeom>
          <a:noFill/>
          <a:ln/>
        </p:spPr>
        <p:txBody>
          <a:bodyPr wrap="square" lIns="0" tIns="0" rIns="0" bIns="0" rtlCol="0" anchor="t"/>
          <a:lstStyle/>
          <a:p>
            <a:pPr marL="0" indent="0" algn="l">
              <a:buNone/>
            </a:pPr>
            <a:r>
              <a:rPr lang="en-US" sz="1800" b="1" dirty="0">
                <a:solidFill>
                  <a:srgbClr val="C68A38"/>
                </a:solidFill>
                <a:latin typeface="Cambria" pitchFamily="34" charset="0"/>
                <a:ea typeface="Cambria" pitchFamily="34" charset="-122"/>
                <a:cs typeface="Cambria" pitchFamily="34" charset="-120"/>
              </a:rPr>
              <a:t>04</a:t>
            </a:r>
            <a:endParaRPr lang="en-US" sz="1800" dirty="0"/>
          </a:p>
        </p:txBody>
      </p:sp>
      <p:sp>
        <p:nvSpPr>
          <p:cNvPr id="25" name="Shape 20"/>
          <p:cNvSpPr/>
          <p:nvPr/>
        </p:nvSpPr>
        <p:spPr>
          <a:xfrm>
            <a:off x="10023081" y="2596896"/>
            <a:ext cx="603504" cy="603504"/>
          </a:xfrm>
          <a:prstGeom prst="ellipse">
            <a:avLst/>
          </a:prstGeom>
          <a:solidFill>
            <a:srgbClr val="C68A38"/>
          </a:solidFill>
          <a:ln/>
        </p:spPr>
      </p:sp>
      <p:pic>
        <p:nvPicPr>
          <p:cNvPr id="26" name="Image 3" descr="/home/claude/deck/icons/gitmerge.png"/>
          <p:cNvPicPr>
            <a:picLocks noChangeAspect="1"/>
          </p:cNvPicPr>
          <p:nvPr/>
        </p:nvPicPr>
        <p:blipFill>
          <a:blip r:embed="rId6"/>
          <a:stretch>
            <a:fillRect/>
          </a:stretch>
        </p:blipFill>
        <p:spPr>
          <a:xfrm>
            <a:off x="10173957" y="2747772"/>
            <a:ext cx="301752" cy="301752"/>
          </a:xfrm>
          <a:prstGeom prst="rect">
            <a:avLst/>
          </a:prstGeom>
        </p:spPr>
      </p:pic>
      <p:sp>
        <p:nvSpPr>
          <p:cNvPr id="27" name="Text 21"/>
          <p:cNvSpPr/>
          <p:nvPr/>
        </p:nvSpPr>
        <p:spPr>
          <a:xfrm>
            <a:off x="9216923" y="3264408"/>
            <a:ext cx="2215820" cy="457200"/>
          </a:xfrm>
          <a:prstGeom prst="rect">
            <a:avLst/>
          </a:prstGeom>
          <a:noFill/>
          <a:ln/>
        </p:spPr>
        <p:txBody>
          <a:bodyPr wrap="square" lIns="0" tIns="0" rIns="0" bIns="0" rtlCol="0" anchor="t"/>
          <a:lstStyle/>
          <a:p>
            <a:pPr marL="0" indent="0" algn="ctr">
              <a:buNone/>
            </a:pPr>
            <a:r>
              <a:rPr lang="en-US" sz="1250" b="1" dirty="0">
                <a:solidFill>
                  <a:srgbClr val="1B2430"/>
                </a:solidFill>
                <a:latin typeface="Calibri" pitchFamily="34" charset="0"/>
                <a:ea typeface="Calibri" pitchFamily="34" charset="-122"/>
                <a:cs typeface="Calibri" pitchFamily="34" charset="-120"/>
              </a:rPr>
              <a:t>ML Model Comparison</a:t>
            </a:r>
            <a:endParaRPr lang="en-US" sz="1250" dirty="0"/>
          </a:p>
        </p:txBody>
      </p:sp>
      <p:sp>
        <p:nvSpPr>
          <p:cNvPr id="28" name="Text 22"/>
          <p:cNvSpPr/>
          <p:nvPr/>
        </p:nvSpPr>
        <p:spPr>
          <a:xfrm>
            <a:off x="9235211" y="3703320"/>
            <a:ext cx="2179244" cy="365760"/>
          </a:xfrm>
          <a:prstGeom prst="rect">
            <a:avLst/>
          </a:prstGeom>
          <a:noFill/>
          <a:ln/>
        </p:spPr>
        <p:txBody>
          <a:bodyPr wrap="square" lIns="0" tIns="0" rIns="0" bIns="0" rtlCol="0" anchor="t"/>
          <a:lstStyle/>
          <a:p>
            <a:pPr marL="0" indent="0" algn="ctr">
              <a:buNone/>
            </a:pPr>
            <a:r>
              <a:rPr lang="en-US" sz="950" dirty="0">
                <a:solidFill>
                  <a:srgbClr val="5F6A78"/>
                </a:solidFill>
                <a:latin typeface="Calibri" pitchFamily="34" charset="0"/>
                <a:ea typeface="Calibri" pitchFamily="34" charset="-122"/>
                <a:cs typeface="Calibri" pitchFamily="34" charset="-120"/>
              </a:rPr>
              <a:t>Regression, Random Forest &amp; boosting, by RMSE.</a:t>
            </a:r>
            <a:endParaRPr lang="en-US" sz="950" dirty="0"/>
          </a:p>
        </p:txBody>
      </p:sp>
      <p:sp>
        <p:nvSpPr>
          <p:cNvPr id="29" name="Shape 23"/>
          <p:cNvSpPr/>
          <p:nvPr/>
        </p:nvSpPr>
        <p:spPr>
          <a:xfrm>
            <a:off x="1866862" y="4114800"/>
            <a:ext cx="4228986" cy="201168"/>
          </a:xfrm>
          <a:prstGeom prst="line">
            <a:avLst/>
          </a:prstGeom>
          <a:noFill/>
          <a:ln w="12700">
            <a:solidFill>
              <a:srgbClr val="93A0AD"/>
            </a:solidFill>
            <a:prstDash val="solid"/>
          </a:ln>
        </p:spPr>
      </p:sp>
      <p:sp>
        <p:nvSpPr>
          <p:cNvPr id="30" name="Shape 24"/>
          <p:cNvSpPr/>
          <p:nvPr/>
        </p:nvSpPr>
        <p:spPr>
          <a:xfrm>
            <a:off x="4686186" y="4114800"/>
            <a:ext cx="1409662" cy="201168"/>
          </a:xfrm>
          <a:prstGeom prst="line">
            <a:avLst/>
          </a:prstGeom>
          <a:noFill/>
          <a:ln w="12700">
            <a:solidFill>
              <a:srgbClr val="93A0AD"/>
            </a:solidFill>
            <a:prstDash val="solid"/>
          </a:ln>
        </p:spPr>
      </p:sp>
      <p:sp>
        <p:nvSpPr>
          <p:cNvPr id="31" name="Shape 25"/>
          <p:cNvSpPr/>
          <p:nvPr/>
        </p:nvSpPr>
        <p:spPr>
          <a:xfrm>
            <a:off x="6095848" y="4114800"/>
            <a:ext cx="1409662" cy="201168"/>
          </a:xfrm>
          <a:prstGeom prst="line">
            <a:avLst/>
          </a:prstGeom>
          <a:noFill/>
          <a:ln w="12700">
            <a:solidFill>
              <a:srgbClr val="93A0AD"/>
            </a:solidFill>
            <a:prstDash val="solid"/>
          </a:ln>
        </p:spPr>
      </p:sp>
      <p:sp>
        <p:nvSpPr>
          <p:cNvPr id="32" name="Shape 26"/>
          <p:cNvSpPr/>
          <p:nvPr/>
        </p:nvSpPr>
        <p:spPr>
          <a:xfrm>
            <a:off x="6095848" y="4114800"/>
            <a:ext cx="4228986" cy="201168"/>
          </a:xfrm>
          <a:prstGeom prst="line">
            <a:avLst/>
          </a:prstGeom>
          <a:noFill/>
          <a:ln w="12700">
            <a:solidFill>
              <a:srgbClr val="93A0AD"/>
            </a:solidFill>
            <a:prstDash val="solid"/>
          </a:ln>
        </p:spPr>
      </p:sp>
      <p:sp>
        <p:nvSpPr>
          <p:cNvPr id="33" name="Shape 27"/>
          <p:cNvSpPr/>
          <p:nvPr/>
        </p:nvSpPr>
        <p:spPr>
          <a:xfrm>
            <a:off x="594360" y="4315968"/>
            <a:ext cx="11002975" cy="1508760"/>
          </a:xfrm>
          <a:prstGeom prst="roundRect">
            <a:avLst>
              <a:gd name="adj" fmla="val 3636"/>
            </a:avLst>
          </a:prstGeom>
          <a:solidFill>
            <a:srgbClr val="142A4C"/>
          </a:solidFill>
          <a:ln/>
        </p:spPr>
      </p:sp>
      <p:sp>
        <p:nvSpPr>
          <p:cNvPr id="34" name="Text 28"/>
          <p:cNvSpPr/>
          <p:nvPr/>
        </p:nvSpPr>
        <p:spPr>
          <a:xfrm>
            <a:off x="1051560" y="4590288"/>
            <a:ext cx="822960" cy="457200"/>
          </a:xfrm>
          <a:prstGeom prst="rect">
            <a:avLst/>
          </a:prstGeom>
          <a:noFill/>
          <a:ln/>
        </p:spPr>
        <p:txBody>
          <a:bodyPr wrap="square" lIns="0" tIns="0" rIns="0" bIns="0" rtlCol="0" anchor="t"/>
          <a:lstStyle/>
          <a:p>
            <a:pPr marL="0" indent="0" algn="l">
              <a:buNone/>
            </a:pPr>
            <a:r>
              <a:rPr lang="en-US" sz="2400" b="1" dirty="0">
                <a:solidFill>
                  <a:srgbClr val="C68A38"/>
                </a:solidFill>
                <a:latin typeface="Cambria" pitchFamily="34" charset="0"/>
                <a:ea typeface="Cambria" pitchFamily="34" charset="-122"/>
                <a:cs typeface="Cambria" pitchFamily="34" charset="-120"/>
              </a:rPr>
              <a:t>05</a:t>
            </a:r>
            <a:endParaRPr lang="en-US" sz="2400" dirty="0"/>
          </a:p>
        </p:txBody>
      </p:sp>
      <p:sp>
        <p:nvSpPr>
          <p:cNvPr id="35" name="Shape 29"/>
          <p:cNvSpPr/>
          <p:nvPr/>
        </p:nvSpPr>
        <p:spPr>
          <a:xfrm>
            <a:off x="1760220" y="4681728"/>
            <a:ext cx="777240" cy="777240"/>
          </a:xfrm>
          <a:prstGeom prst="ellipse">
            <a:avLst/>
          </a:prstGeom>
          <a:solidFill>
            <a:srgbClr val="C68A38"/>
          </a:solidFill>
          <a:ln/>
        </p:spPr>
      </p:sp>
      <p:pic>
        <p:nvPicPr>
          <p:cNvPr id="36" name="Image 4" descr="/home/claude/deck/icons/monitor.png"/>
          <p:cNvPicPr>
            <a:picLocks noChangeAspect="1"/>
          </p:cNvPicPr>
          <p:nvPr/>
        </p:nvPicPr>
        <p:blipFill>
          <a:blip r:embed="rId7"/>
          <a:stretch>
            <a:fillRect/>
          </a:stretch>
        </p:blipFill>
        <p:spPr>
          <a:xfrm>
            <a:off x="1954530" y="4876038"/>
            <a:ext cx="388620" cy="388620"/>
          </a:xfrm>
          <a:prstGeom prst="rect">
            <a:avLst/>
          </a:prstGeom>
        </p:spPr>
      </p:pic>
      <p:sp>
        <p:nvSpPr>
          <p:cNvPr id="37" name="Text 30"/>
          <p:cNvSpPr/>
          <p:nvPr/>
        </p:nvSpPr>
        <p:spPr>
          <a:xfrm>
            <a:off x="2788920" y="4626864"/>
            <a:ext cx="8046720" cy="457200"/>
          </a:xfrm>
          <a:prstGeom prst="rect">
            <a:avLst/>
          </a:prstGeom>
          <a:noFill/>
          <a:ln/>
        </p:spPr>
        <p:txBody>
          <a:bodyPr wrap="square" lIns="0" tIns="0" rIns="0" bIns="0" rtlCol="0" anchor="t"/>
          <a:lstStyle/>
          <a:p>
            <a:pPr marL="0" indent="0" algn="l">
              <a:buNone/>
            </a:pPr>
            <a:r>
              <a:rPr lang="en-US" sz="2000" b="1" dirty="0">
                <a:solidFill>
                  <a:srgbClr val="FFFFFF"/>
                </a:solidFill>
                <a:latin typeface="Cambria" pitchFamily="34" charset="0"/>
                <a:ea typeface="Cambria" pitchFamily="34" charset="-122"/>
                <a:cs typeface="Cambria" pitchFamily="34" charset="-120"/>
              </a:rPr>
              <a:t>Interactive R Shiny Dashboard</a:t>
            </a:r>
            <a:endParaRPr lang="en-US" sz="2000" dirty="0"/>
          </a:p>
        </p:txBody>
      </p:sp>
      <p:sp>
        <p:nvSpPr>
          <p:cNvPr id="38" name="Text 31"/>
          <p:cNvSpPr/>
          <p:nvPr/>
        </p:nvSpPr>
        <p:spPr>
          <a:xfrm>
            <a:off x="2788920" y="5102352"/>
            <a:ext cx="8778240" cy="365760"/>
          </a:xfrm>
          <a:prstGeom prst="rect">
            <a:avLst/>
          </a:prstGeom>
          <a:noFill/>
          <a:ln/>
        </p:spPr>
        <p:txBody>
          <a:bodyPr wrap="square" lIns="0" tIns="0" rIns="0" bIns="0" rtlCol="0" anchor="t"/>
          <a:lstStyle/>
          <a:p>
            <a:pPr marL="0" indent="0" algn="l">
              <a:buNone/>
            </a:pPr>
            <a:r>
              <a:rPr lang="en-US" sz="1300" dirty="0">
                <a:solidFill>
                  <a:srgbClr val="D6E0EE"/>
                </a:solidFill>
                <a:latin typeface="Calibri" pitchFamily="34" charset="0"/>
                <a:ea typeface="Calibri" pitchFamily="34" charset="-122"/>
                <a:cs typeface="Calibri" pitchFamily="34" charset="-120"/>
              </a:rPr>
              <a:t>Brings analytics, predictions, and recommendations into one interactive decision-support interface.</a:t>
            </a:r>
            <a:endParaRPr lang="en-US" sz="1300" dirty="0"/>
          </a:p>
        </p:txBody>
      </p:sp>
      <p:sp>
        <p:nvSpPr>
          <p:cNvPr id="39" name="Text 32"/>
          <p:cNvSpPr/>
          <p:nvPr/>
        </p:nvSpPr>
        <p:spPr>
          <a:xfrm>
            <a:off x="2788920" y="5449824"/>
            <a:ext cx="8778240" cy="256032"/>
          </a:xfrm>
          <a:prstGeom prst="rect">
            <a:avLst/>
          </a:prstGeom>
          <a:noFill/>
          <a:ln/>
        </p:spPr>
        <p:txBody>
          <a:bodyPr wrap="square" lIns="0" tIns="0" rIns="0" bIns="0" rtlCol="0" anchor="t"/>
          <a:lstStyle/>
          <a:p>
            <a:pPr marL="0" indent="0" algn="l">
              <a:buNone/>
            </a:pPr>
            <a:r>
              <a:rPr lang="en-US" sz="1000" b="1" kern="0" spc="50" dirty="0">
                <a:solidFill>
                  <a:srgbClr val="9EC6D8"/>
                </a:solidFill>
                <a:latin typeface="Calibri" pitchFamily="34" charset="0"/>
                <a:ea typeface="Calibri" pitchFamily="34" charset="-122"/>
                <a:cs typeface="Calibri" pitchFamily="34" charset="-120"/>
              </a:rPr>
              <a:t>Built with  shiny · plotly · DT</a:t>
            </a:r>
            <a:endParaRPr lang="en-US" sz="1000" dirty="0"/>
          </a:p>
        </p:txBody>
      </p:sp>
      <p:sp>
        <p:nvSpPr>
          <p:cNvPr id="40" name="Text 33"/>
          <p:cNvSpPr/>
          <p:nvPr/>
        </p:nvSpPr>
        <p:spPr>
          <a:xfrm>
            <a:off x="594360" y="5989320"/>
            <a:ext cx="11002975" cy="274320"/>
          </a:xfrm>
          <a:prstGeom prst="rect">
            <a:avLst/>
          </a:prstGeom>
          <a:noFill/>
          <a:ln/>
        </p:spPr>
        <p:txBody>
          <a:bodyPr wrap="square" lIns="0" tIns="0" rIns="0" bIns="0" rtlCol="0" anchor="t"/>
          <a:lstStyle/>
          <a:p>
            <a:pPr marL="0" indent="0" algn="ctr">
              <a:buNone/>
            </a:pPr>
            <a:r>
              <a:rPr lang="en-US" sz="1050" b="1" kern="0" spc="150" dirty="0">
                <a:solidFill>
                  <a:srgbClr val="5F6A78"/>
                </a:solidFill>
                <a:latin typeface="Calibri" pitchFamily="34" charset="0"/>
                <a:ea typeface="Calibri" pitchFamily="34" charset="-122"/>
                <a:cs typeface="Calibri" pitchFamily="34" charset="-120"/>
              </a:rPr>
              <a:t>ANALYTICAL INSIGHTS      +      ML PREDICTIONS      +      DECISION SUPPORT</a:t>
            </a:r>
            <a:endParaRPr lang="en-US" sz="1050" dirty="0"/>
          </a:p>
        </p:txBody>
      </p:sp>
      <p:sp>
        <p:nvSpPr>
          <p:cNvPr id="41" name="Shape 34"/>
          <p:cNvSpPr/>
          <p:nvPr/>
        </p:nvSpPr>
        <p:spPr>
          <a:xfrm>
            <a:off x="594360" y="6327648"/>
            <a:ext cx="11002975" cy="0"/>
          </a:xfrm>
          <a:prstGeom prst="line">
            <a:avLst/>
          </a:prstGeom>
          <a:noFill/>
          <a:ln w="9525">
            <a:solidFill>
              <a:srgbClr val="E5E9EF"/>
            </a:solidFill>
            <a:prstDash val="solid"/>
          </a:ln>
        </p:spPr>
      </p:sp>
      <p:sp>
        <p:nvSpPr>
          <p:cNvPr id="42" name="Text 35"/>
          <p:cNvSpPr/>
          <p:nvPr/>
        </p:nvSpPr>
        <p:spPr>
          <a:xfrm>
            <a:off x="594360" y="6400800"/>
            <a:ext cx="7772400" cy="274320"/>
          </a:xfrm>
          <a:prstGeom prst="rect">
            <a:avLst/>
          </a:prstGeom>
          <a:noFill/>
          <a:ln/>
        </p:spPr>
        <p:txBody>
          <a:bodyPr wrap="square" lIns="0" tIns="0" rIns="0" bIns="0" rtlCol="0" anchor="t"/>
          <a:lstStyle/>
          <a:p>
            <a:pPr marL="0" indent="0" algn="l">
              <a:buNone/>
            </a:pPr>
            <a:r>
              <a:rPr lang="en-US" sz="850" kern="0" spc="50" dirty="0">
                <a:solidFill>
                  <a:srgbClr val="93A0AD"/>
                </a:solidFill>
                <a:latin typeface="Calibri" pitchFamily="34" charset="0"/>
                <a:ea typeface="Calibri" pitchFamily="34" charset="-122"/>
                <a:cs typeface="Calibri" pitchFamily="34" charset="-120"/>
              </a:rPr>
              <a:t>Restaurant Sales Analytics &amp; Demand Prediction</a:t>
            </a:r>
            <a:endParaRPr lang="en-US" sz="850" dirty="0"/>
          </a:p>
        </p:txBody>
      </p:sp>
      <p:sp>
        <p:nvSpPr>
          <p:cNvPr id="43" name="Text 36"/>
          <p:cNvSpPr/>
          <p:nvPr/>
        </p:nvSpPr>
        <p:spPr>
          <a:xfrm>
            <a:off x="6110935" y="6400800"/>
            <a:ext cx="4937760" cy="274320"/>
          </a:xfrm>
          <a:prstGeom prst="rect">
            <a:avLst/>
          </a:prstGeom>
          <a:noFill/>
          <a:ln/>
        </p:spPr>
        <p:txBody>
          <a:bodyPr wrap="square" lIns="0" tIns="0" rIns="0" bIns="0" rtlCol="0" anchor="t"/>
          <a:lstStyle/>
          <a:p>
            <a:pPr marL="0" indent="0" algn="r">
              <a:buNone/>
            </a:pPr>
            <a:endParaRPr lang="en-US" sz="850" dirty="0"/>
          </a:p>
        </p:txBody>
      </p:sp>
      <p:sp>
        <p:nvSpPr>
          <p:cNvPr id="44" name="Text 37"/>
          <p:cNvSpPr/>
          <p:nvPr/>
        </p:nvSpPr>
        <p:spPr>
          <a:xfrm>
            <a:off x="11048695" y="6400800"/>
            <a:ext cx="548640" cy="274320"/>
          </a:xfrm>
          <a:prstGeom prst="rect">
            <a:avLst/>
          </a:prstGeom>
          <a:noFill/>
          <a:ln/>
        </p:spPr>
        <p:txBody>
          <a:bodyPr wrap="square" lIns="0" tIns="0" rIns="0" bIns="0" rtlCol="0" anchor="t"/>
          <a:lstStyle/>
          <a:p>
            <a:pPr marL="0" indent="0" algn="r">
              <a:buNone/>
            </a:pPr>
            <a:r>
              <a:rPr lang="en-US" sz="850" b="1" dirty="0">
                <a:solidFill>
                  <a:srgbClr val="5F6A78"/>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1108</Words>
  <Application>Microsoft Office PowerPoint</Application>
  <PresentationFormat>Widescreen</PresentationFormat>
  <Paragraphs>147</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Lato</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Restaurant Sales Analytics and Food Demand Prediction Using Machine Learning</dc:title>
  <dc:subject>PptxGenJS Presentation</dc:subject>
  <dc:creator>Project Team</dc:creator>
  <cp:lastModifiedBy>Apsara NB</cp:lastModifiedBy>
  <cp:revision>3</cp:revision>
  <dcterms:created xsi:type="dcterms:W3CDTF">2026-08-15T07:44:42Z</dcterms:created>
  <dcterms:modified xsi:type="dcterms:W3CDTF">2026-08-21T14:59:01Z</dcterms:modified>
</cp:coreProperties>
</file>